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Montserrat" charset="1" panose="00000500000000000000"/>
      <p:regular r:id="rId22"/>
    </p:embeddedFont>
    <p:embeddedFont>
      <p:font typeface="Open Sans Bold" charset="1" panose="00000000000000000000"/>
      <p:regular r:id="rId23"/>
    </p:embeddedFont>
    <p:embeddedFont>
      <p:font typeface="Open Sans" charset="1" panose="00000000000000000000"/>
      <p:regular r:id="rId24"/>
    </p:embeddedFont>
    <p:embeddedFont>
      <p:font typeface="Canva Sans Bold" charset="1" panose="020B0803030501040103"/>
      <p:regular r:id="rId25"/>
    </p:embeddedFont>
    <p:embeddedFont>
      <p:font typeface="Canva Sans" charset="1" panose="020B0503030501040103"/>
      <p:regular r:id="rId26"/>
    </p:embeddedFont>
    <p:embeddedFont>
      <p:font typeface="Open Sans Bold Italics" charset="1" panose="0000000000000000000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0.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2.jpeg" Type="http://schemas.openxmlformats.org/officeDocument/2006/relationships/image"/><Relationship Id="rId7" Target="../media/image1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20.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7786786" y="0"/>
            <a:ext cx="10501214" cy="10287000"/>
            <a:chOff x="0" y="0"/>
            <a:chExt cx="1626913" cy="1593725"/>
          </a:xfrm>
        </p:grpSpPr>
        <p:sp>
          <p:nvSpPr>
            <p:cNvPr name="Freeform 3" id="3"/>
            <p:cNvSpPr/>
            <p:nvPr/>
          </p:nvSpPr>
          <p:spPr>
            <a:xfrm flipH="false" flipV="false" rot="0">
              <a:off x="0" y="0"/>
              <a:ext cx="1626913" cy="1593725"/>
            </a:xfrm>
            <a:custGeom>
              <a:avLst/>
              <a:gdLst/>
              <a:ahLst/>
              <a:cxnLst/>
              <a:rect r="r" b="b" t="t" l="l"/>
              <a:pathLst>
                <a:path h="1593725" w="1626913">
                  <a:moveTo>
                    <a:pt x="0" y="0"/>
                  </a:moveTo>
                  <a:lnTo>
                    <a:pt x="1626913" y="0"/>
                  </a:lnTo>
                  <a:lnTo>
                    <a:pt x="1626913" y="1593725"/>
                  </a:lnTo>
                  <a:lnTo>
                    <a:pt x="0" y="1593725"/>
                  </a:lnTo>
                  <a:close/>
                </a:path>
              </a:pathLst>
            </a:custGeom>
            <a:blipFill>
              <a:blip r:embed="rId2"/>
              <a:stretch>
                <a:fillRect l="-22932" t="0" r="-51218" b="0"/>
              </a:stretch>
            </a:blipFill>
          </p:spPr>
        </p:sp>
      </p:grpSp>
      <p:grpSp>
        <p:nvGrpSpPr>
          <p:cNvPr name="Group 4" id="4"/>
          <p:cNvGrpSpPr/>
          <p:nvPr/>
        </p:nvGrpSpPr>
        <p:grpSpPr>
          <a:xfrm rot="0">
            <a:off x="7655870" y="53218"/>
            <a:ext cx="5678950" cy="10287000"/>
            <a:chOff x="0" y="0"/>
            <a:chExt cx="1495691" cy="2709333"/>
          </a:xfrm>
        </p:grpSpPr>
        <p:sp>
          <p:nvSpPr>
            <p:cNvPr name="Freeform 5" id="5"/>
            <p:cNvSpPr/>
            <p:nvPr/>
          </p:nvSpPr>
          <p:spPr>
            <a:xfrm flipH="false" flipV="false" rot="0">
              <a:off x="0" y="0"/>
              <a:ext cx="1495691" cy="2709333"/>
            </a:xfrm>
            <a:custGeom>
              <a:avLst/>
              <a:gdLst/>
              <a:ahLst/>
              <a:cxnLst/>
              <a:rect r="r" b="b" t="t" l="l"/>
              <a:pathLst>
                <a:path h="2709333" w="1495691">
                  <a:moveTo>
                    <a:pt x="0" y="0"/>
                  </a:moveTo>
                  <a:lnTo>
                    <a:pt x="1495691" y="0"/>
                  </a:lnTo>
                  <a:lnTo>
                    <a:pt x="1495691" y="2709333"/>
                  </a:lnTo>
                  <a:lnTo>
                    <a:pt x="0" y="2709333"/>
                  </a:lnTo>
                  <a:close/>
                </a:path>
              </a:pathLst>
            </a:custGeom>
            <a:gradFill rotWithShape="true">
              <a:gsLst>
                <a:gs pos="0">
                  <a:srgbClr val="000000">
                    <a:alpha val="100000"/>
                  </a:srgbClr>
                </a:gs>
                <a:gs pos="100000">
                  <a:srgbClr val="000000">
                    <a:alpha val="0"/>
                  </a:srgbClr>
                </a:gs>
              </a:gsLst>
              <a:lin ang="0"/>
            </a:gradFill>
          </p:spPr>
        </p:sp>
        <p:sp>
          <p:nvSpPr>
            <p:cNvPr name="TextBox 6" id="6"/>
            <p:cNvSpPr txBox="true"/>
            <p:nvPr/>
          </p:nvSpPr>
          <p:spPr>
            <a:xfrm>
              <a:off x="0" y="-38100"/>
              <a:ext cx="1495691"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7268251" y="8687300"/>
            <a:ext cx="3672883" cy="929074"/>
            <a:chOff x="0" y="0"/>
            <a:chExt cx="967344" cy="244694"/>
          </a:xfrm>
        </p:grpSpPr>
        <p:sp>
          <p:nvSpPr>
            <p:cNvPr name="Freeform 8" id="8"/>
            <p:cNvSpPr/>
            <p:nvPr/>
          </p:nvSpPr>
          <p:spPr>
            <a:xfrm flipH="false" flipV="false" rot="0">
              <a:off x="0" y="0"/>
              <a:ext cx="967344" cy="244694"/>
            </a:xfrm>
            <a:custGeom>
              <a:avLst/>
              <a:gdLst/>
              <a:ahLst/>
              <a:cxnLst/>
              <a:rect r="r" b="b" t="t" l="l"/>
              <a:pathLst>
                <a:path h="244694" w="967344">
                  <a:moveTo>
                    <a:pt x="105393" y="0"/>
                  </a:moveTo>
                  <a:lnTo>
                    <a:pt x="861951" y="0"/>
                  </a:lnTo>
                  <a:cubicBezTo>
                    <a:pt x="920158" y="0"/>
                    <a:pt x="967344" y="47186"/>
                    <a:pt x="967344" y="105393"/>
                  </a:cubicBezTo>
                  <a:lnTo>
                    <a:pt x="967344" y="139301"/>
                  </a:lnTo>
                  <a:cubicBezTo>
                    <a:pt x="967344" y="197508"/>
                    <a:pt x="920158" y="244694"/>
                    <a:pt x="861951" y="244694"/>
                  </a:cubicBezTo>
                  <a:lnTo>
                    <a:pt x="105393" y="244694"/>
                  </a:lnTo>
                  <a:cubicBezTo>
                    <a:pt x="47186" y="244694"/>
                    <a:pt x="0" y="197508"/>
                    <a:pt x="0" y="139301"/>
                  </a:cubicBezTo>
                  <a:lnTo>
                    <a:pt x="0" y="105393"/>
                  </a:lnTo>
                  <a:cubicBezTo>
                    <a:pt x="0" y="47186"/>
                    <a:pt x="47186" y="0"/>
                    <a:pt x="105393" y="0"/>
                  </a:cubicBezTo>
                  <a:close/>
                </a:path>
              </a:pathLst>
            </a:custGeom>
            <a:solidFill>
              <a:srgbClr val="000000"/>
            </a:solidFill>
            <a:ln w="19050" cap="rnd">
              <a:solidFill>
                <a:srgbClr val="40DDDF"/>
              </a:solidFill>
              <a:prstDash val="solid"/>
              <a:round/>
            </a:ln>
          </p:spPr>
        </p:sp>
        <p:sp>
          <p:nvSpPr>
            <p:cNvPr name="TextBox 9" id="9"/>
            <p:cNvSpPr txBox="true"/>
            <p:nvPr/>
          </p:nvSpPr>
          <p:spPr>
            <a:xfrm>
              <a:off x="0" y="-38100"/>
              <a:ext cx="967344" cy="282794"/>
            </a:xfrm>
            <a:prstGeom prst="rect">
              <a:avLst/>
            </a:prstGeom>
          </p:spPr>
          <p:txBody>
            <a:bodyPr anchor="ctr" rtlCol="false" tIns="50800" lIns="50800" bIns="50800" rIns="50800"/>
            <a:lstStyle/>
            <a:p>
              <a:pPr algn="ctr">
                <a:lnSpc>
                  <a:spcPts val="3359"/>
                </a:lnSpc>
              </a:pPr>
            </a:p>
          </p:txBody>
        </p:sp>
      </p:grpSp>
      <p:grpSp>
        <p:nvGrpSpPr>
          <p:cNvPr name="Group 10" id="10"/>
          <p:cNvGrpSpPr/>
          <p:nvPr/>
        </p:nvGrpSpPr>
        <p:grpSpPr>
          <a:xfrm rot="0">
            <a:off x="1149842" y="5551056"/>
            <a:ext cx="8115300" cy="1948521"/>
            <a:chOff x="0" y="0"/>
            <a:chExt cx="2137363" cy="513191"/>
          </a:xfrm>
        </p:grpSpPr>
        <p:sp>
          <p:nvSpPr>
            <p:cNvPr name="Freeform 11" id="11"/>
            <p:cNvSpPr/>
            <p:nvPr/>
          </p:nvSpPr>
          <p:spPr>
            <a:xfrm flipH="false" flipV="false" rot="0">
              <a:off x="0" y="0"/>
              <a:ext cx="2137363" cy="513191"/>
            </a:xfrm>
            <a:custGeom>
              <a:avLst/>
              <a:gdLst/>
              <a:ahLst/>
              <a:cxnLst/>
              <a:rect r="r" b="b" t="t" l="l"/>
              <a:pathLst>
                <a:path h="513191" w="2137363">
                  <a:moveTo>
                    <a:pt x="38160" y="0"/>
                  </a:moveTo>
                  <a:lnTo>
                    <a:pt x="2099203" y="0"/>
                  </a:lnTo>
                  <a:cubicBezTo>
                    <a:pt x="2120278" y="0"/>
                    <a:pt x="2137363" y="17085"/>
                    <a:pt x="2137363" y="38160"/>
                  </a:cubicBezTo>
                  <a:lnTo>
                    <a:pt x="2137363" y="475031"/>
                  </a:lnTo>
                  <a:cubicBezTo>
                    <a:pt x="2137363" y="496106"/>
                    <a:pt x="2120278" y="513191"/>
                    <a:pt x="2099203" y="513191"/>
                  </a:cubicBezTo>
                  <a:lnTo>
                    <a:pt x="38160" y="513191"/>
                  </a:lnTo>
                  <a:cubicBezTo>
                    <a:pt x="17085" y="513191"/>
                    <a:pt x="0" y="496106"/>
                    <a:pt x="0" y="475031"/>
                  </a:cubicBezTo>
                  <a:lnTo>
                    <a:pt x="0" y="38160"/>
                  </a:lnTo>
                  <a:cubicBezTo>
                    <a:pt x="0" y="17085"/>
                    <a:pt x="17085" y="0"/>
                    <a:pt x="38160" y="0"/>
                  </a:cubicBezTo>
                  <a:close/>
                </a:path>
              </a:pathLst>
            </a:custGeom>
            <a:solidFill>
              <a:srgbClr val="40DDDF"/>
            </a:solidFill>
            <a:ln w="19050" cap="rnd">
              <a:solidFill>
                <a:srgbClr val="40DDDF"/>
              </a:solidFill>
              <a:prstDash val="solid"/>
              <a:round/>
            </a:ln>
          </p:spPr>
        </p:sp>
        <p:sp>
          <p:nvSpPr>
            <p:cNvPr name="TextBox 12" id="12"/>
            <p:cNvSpPr txBox="true"/>
            <p:nvPr/>
          </p:nvSpPr>
          <p:spPr>
            <a:xfrm>
              <a:off x="0" y="-38100"/>
              <a:ext cx="2137363" cy="551291"/>
            </a:xfrm>
            <a:prstGeom prst="rect">
              <a:avLst/>
            </a:prstGeom>
          </p:spPr>
          <p:txBody>
            <a:bodyPr anchor="ctr" rtlCol="false" tIns="50800" lIns="50800" bIns="50800" rIns="50800"/>
            <a:lstStyle/>
            <a:p>
              <a:pPr algn="ctr">
                <a:lnSpc>
                  <a:spcPts val="3359"/>
                </a:lnSpc>
              </a:pPr>
            </a:p>
          </p:txBody>
        </p:sp>
      </p:grpSp>
      <p:sp>
        <p:nvSpPr>
          <p:cNvPr name="TextBox 13" id="13"/>
          <p:cNvSpPr txBox="true"/>
          <p:nvPr/>
        </p:nvSpPr>
        <p:spPr>
          <a:xfrm rot="0">
            <a:off x="1028700" y="2356670"/>
            <a:ext cx="11220162" cy="2786830"/>
          </a:xfrm>
          <a:prstGeom prst="rect">
            <a:avLst/>
          </a:prstGeom>
        </p:spPr>
        <p:txBody>
          <a:bodyPr anchor="t" rtlCol="false" tIns="0" lIns="0" bIns="0" rIns="0">
            <a:spAutoFit/>
          </a:bodyPr>
          <a:lstStyle/>
          <a:p>
            <a:pPr algn="l">
              <a:lnSpc>
                <a:spcPts val="5436"/>
              </a:lnSpc>
            </a:pPr>
            <a:r>
              <a:rPr lang="en-US" sz="5436">
                <a:solidFill>
                  <a:srgbClr val="40DDDF"/>
                </a:solidFill>
                <a:latin typeface="Montserrat"/>
                <a:ea typeface="Montserrat"/>
                <a:cs typeface="Montserrat"/>
                <a:sym typeface="Montserrat"/>
              </a:rPr>
              <a:t>A HYBRID STATIC-DYNAMIC FRAMEWORK FOR RESILIENT MOBILE MALWARE DETECTION USING TOOLKIT MOBSF</a:t>
            </a:r>
          </a:p>
        </p:txBody>
      </p:sp>
      <p:sp>
        <p:nvSpPr>
          <p:cNvPr name="Freeform 14" id="14"/>
          <p:cNvSpPr/>
          <p:nvPr/>
        </p:nvSpPr>
        <p:spPr>
          <a:xfrm flipH="false" flipV="false" rot="0">
            <a:off x="10049556" y="8687300"/>
            <a:ext cx="891578" cy="891578"/>
          </a:xfrm>
          <a:custGeom>
            <a:avLst/>
            <a:gdLst/>
            <a:ahLst/>
            <a:cxnLst/>
            <a:rect r="r" b="b" t="t" l="l"/>
            <a:pathLst>
              <a:path h="891578" w="891578">
                <a:moveTo>
                  <a:pt x="0" y="0"/>
                </a:moveTo>
                <a:lnTo>
                  <a:pt x="891578" y="0"/>
                </a:lnTo>
                <a:lnTo>
                  <a:pt x="891578" y="891579"/>
                </a:lnTo>
                <a:lnTo>
                  <a:pt x="0" y="89157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5" id="15"/>
          <p:cNvGrpSpPr/>
          <p:nvPr/>
        </p:nvGrpSpPr>
        <p:grpSpPr>
          <a:xfrm rot="0">
            <a:off x="0" y="0"/>
            <a:ext cx="781050" cy="10340218"/>
            <a:chOff x="0" y="0"/>
            <a:chExt cx="205709" cy="2723350"/>
          </a:xfrm>
        </p:grpSpPr>
        <p:sp>
          <p:nvSpPr>
            <p:cNvPr name="Freeform 16" id="16"/>
            <p:cNvSpPr/>
            <p:nvPr/>
          </p:nvSpPr>
          <p:spPr>
            <a:xfrm flipH="false" flipV="false" rot="0">
              <a:off x="0" y="0"/>
              <a:ext cx="205709" cy="2723350"/>
            </a:xfrm>
            <a:custGeom>
              <a:avLst/>
              <a:gdLst/>
              <a:ahLst/>
              <a:cxnLst/>
              <a:rect r="r" b="b" t="t" l="l"/>
              <a:pathLst>
                <a:path h="2723350" w="205709">
                  <a:moveTo>
                    <a:pt x="0" y="0"/>
                  </a:moveTo>
                  <a:lnTo>
                    <a:pt x="205709" y="0"/>
                  </a:lnTo>
                  <a:lnTo>
                    <a:pt x="205709" y="2723350"/>
                  </a:lnTo>
                  <a:lnTo>
                    <a:pt x="0" y="2723350"/>
                  </a:lnTo>
                  <a:close/>
                </a:path>
              </a:pathLst>
            </a:custGeom>
            <a:gradFill rotWithShape="true">
              <a:gsLst>
                <a:gs pos="0">
                  <a:srgbClr val="40DDDF">
                    <a:alpha val="100000"/>
                  </a:srgbClr>
                </a:gs>
                <a:gs pos="100000">
                  <a:srgbClr val="000000">
                    <a:alpha val="0"/>
                  </a:srgbClr>
                </a:gs>
              </a:gsLst>
              <a:lin ang="0"/>
            </a:gradFill>
          </p:spPr>
        </p:sp>
        <p:sp>
          <p:nvSpPr>
            <p:cNvPr name="TextBox 17" id="17"/>
            <p:cNvSpPr txBox="true"/>
            <p:nvPr/>
          </p:nvSpPr>
          <p:spPr>
            <a:xfrm>
              <a:off x="0" y="-38100"/>
              <a:ext cx="205709" cy="2761450"/>
            </a:xfrm>
            <a:prstGeom prst="rect">
              <a:avLst/>
            </a:prstGeom>
          </p:spPr>
          <p:txBody>
            <a:bodyPr anchor="ctr" rtlCol="false" tIns="50800" lIns="50800" bIns="50800" rIns="50800"/>
            <a:lstStyle/>
            <a:p>
              <a:pPr algn="ctr">
                <a:lnSpc>
                  <a:spcPts val="2659"/>
                </a:lnSpc>
                <a:spcBef>
                  <a:spcPct val="0"/>
                </a:spcBef>
              </a:pPr>
            </a:p>
          </p:txBody>
        </p:sp>
      </p:grpSp>
      <p:sp>
        <p:nvSpPr>
          <p:cNvPr name="Freeform 18" id="18"/>
          <p:cNvSpPr/>
          <p:nvPr/>
        </p:nvSpPr>
        <p:spPr>
          <a:xfrm flipH="false" flipV="false" rot="0">
            <a:off x="1028700" y="1052123"/>
            <a:ext cx="376666" cy="446131"/>
          </a:xfrm>
          <a:custGeom>
            <a:avLst/>
            <a:gdLst/>
            <a:ahLst/>
            <a:cxnLst/>
            <a:rect r="r" b="b" t="t" l="l"/>
            <a:pathLst>
              <a:path h="446131" w="376666">
                <a:moveTo>
                  <a:pt x="0" y="0"/>
                </a:moveTo>
                <a:lnTo>
                  <a:pt x="376666" y="0"/>
                </a:lnTo>
                <a:lnTo>
                  <a:pt x="376666" y="446131"/>
                </a:lnTo>
                <a:lnTo>
                  <a:pt x="0" y="44613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9" id="19"/>
          <p:cNvSpPr txBox="true"/>
          <p:nvPr/>
        </p:nvSpPr>
        <p:spPr>
          <a:xfrm rot="0">
            <a:off x="1405366" y="1128821"/>
            <a:ext cx="2358460" cy="264160"/>
          </a:xfrm>
          <a:prstGeom prst="rect">
            <a:avLst/>
          </a:prstGeom>
        </p:spPr>
        <p:txBody>
          <a:bodyPr anchor="t" rtlCol="false" tIns="0" lIns="0" bIns="0" rIns="0">
            <a:spAutoFit/>
          </a:bodyPr>
          <a:lstStyle/>
          <a:p>
            <a:pPr algn="r">
              <a:lnSpc>
                <a:spcPts val="2239"/>
              </a:lnSpc>
              <a:spcBef>
                <a:spcPct val="0"/>
              </a:spcBef>
            </a:pPr>
            <a:r>
              <a:rPr lang="en-US" b="true" sz="1599">
                <a:solidFill>
                  <a:srgbClr val="FFFFFF"/>
                </a:solidFill>
                <a:latin typeface="Open Sans Bold"/>
                <a:ea typeface="Open Sans Bold"/>
                <a:cs typeface="Open Sans Bold"/>
                <a:sym typeface="Open Sans Bold"/>
              </a:rPr>
              <a:t>GHOST_DEVELOPERS</a:t>
            </a:r>
          </a:p>
        </p:txBody>
      </p:sp>
      <p:sp>
        <p:nvSpPr>
          <p:cNvPr name="TextBox 20" id="20"/>
          <p:cNvSpPr txBox="true"/>
          <p:nvPr/>
        </p:nvSpPr>
        <p:spPr>
          <a:xfrm rot="0">
            <a:off x="7437275" y="8934700"/>
            <a:ext cx="2919548" cy="396174"/>
          </a:xfrm>
          <a:prstGeom prst="rect">
            <a:avLst/>
          </a:prstGeom>
        </p:spPr>
        <p:txBody>
          <a:bodyPr anchor="t" rtlCol="false" tIns="0" lIns="0" bIns="0" rIns="0">
            <a:spAutoFit/>
          </a:bodyPr>
          <a:lstStyle/>
          <a:p>
            <a:pPr algn="ctr">
              <a:lnSpc>
                <a:spcPts val="3359"/>
              </a:lnSpc>
              <a:spcBef>
                <a:spcPct val="0"/>
              </a:spcBef>
            </a:pPr>
            <a:r>
              <a:rPr lang="en-US" sz="2400">
                <a:solidFill>
                  <a:srgbClr val="FFFFFF"/>
                </a:solidFill>
                <a:latin typeface="Open Sans"/>
                <a:ea typeface="Open Sans"/>
                <a:cs typeface="Open Sans"/>
                <a:sym typeface="Open Sans"/>
              </a:rPr>
              <a:t>Start It Now</a:t>
            </a:r>
          </a:p>
        </p:txBody>
      </p:sp>
      <p:sp>
        <p:nvSpPr>
          <p:cNvPr name="TextBox 21" id="21"/>
          <p:cNvSpPr txBox="true"/>
          <p:nvPr/>
        </p:nvSpPr>
        <p:spPr>
          <a:xfrm rot="0">
            <a:off x="1149842" y="5798242"/>
            <a:ext cx="8042430" cy="1406525"/>
          </a:xfrm>
          <a:prstGeom prst="rect">
            <a:avLst/>
          </a:prstGeom>
        </p:spPr>
        <p:txBody>
          <a:bodyPr anchor="t" rtlCol="false" tIns="0" lIns="0" bIns="0" rIns="0">
            <a:spAutoFit/>
          </a:bodyPr>
          <a:lstStyle/>
          <a:p>
            <a:pPr algn="ctr">
              <a:lnSpc>
                <a:spcPts val="2800"/>
              </a:lnSpc>
            </a:pPr>
            <a:r>
              <a:rPr lang="en-US" sz="2000">
                <a:solidFill>
                  <a:srgbClr val="000000"/>
                </a:solidFill>
                <a:latin typeface="Open Sans"/>
                <a:ea typeface="Open Sans"/>
                <a:cs typeface="Open Sans"/>
                <a:sym typeface="Open Sans"/>
              </a:rPr>
              <a:t>Md.Shazzad Hossain Jiku- 011221073</a:t>
            </a:r>
          </a:p>
          <a:p>
            <a:pPr algn="ctr">
              <a:lnSpc>
                <a:spcPts val="2800"/>
              </a:lnSpc>
            </a:pPr>
            <a:r>
              <a:rPr lang="en-US" sz="2000">
                <a:solidFill>
                  <a:srgbClr val="000000"/>
                </a:solidFill>
                <a:latin typeface="Open Sans"/>
                <a:ea typeface="Open Sans"/>
                <a:cs typeface="Open Sans"/>
                <a:sym typeface="Open Sans"/>
              </a:rPr>
              <a:t>Rudro Kumer Bandhapadhay- 011221118</a:t>
            </a:r>
          </a:p>
          <a:p>
            <a:pPr algn="ctr">
              <a:lnSpc>
                <a:spcPts val="2800"/>
              </a:lnSpc>
            </a:pPr>
            <a:r>
              <a:rPr lang="en-US" sz="2000">
                <a:solidFill>
                  <a:srgbClr val="000000"/>
                </a:solidFill>
                <a:latin typeface="Open Sans"/>
                <a:ea typeface="Open Sans"/>
                <a:cs typeface="Open Sans"/>
                <a:sym typeface="Open Sans"/>
              </a:rPr>
              <a:t>Mridul Kanti Paul- 011221265</a:t>
            </a:r>
          </a:p>
          <a:p>
            <a:pPr algn="ctr">
              <a:lnSpc>
                <a:spcPts val="2800"/>
              </a:lnSpc>
              <a:spcBef>
                <a:spcPct val="0"/>
              </a:spcBef>
            </a:pPr>
            <a:r>
              <a:rPr lang="en-US" sz="2000">
                <a:solidFill>
                  <a:srgbClr val="000000"/>
                </a:solidFill>
                <a:latin typeface="Open Sans"/>
                <a:ea typeface="Open Sans"/>
                <a:cs typeface="Open Sans"/>
                <a:sym typeface="Open Sans"/>
              </a:rPr>
              <a:t>Mezbah Uddin Ahammed Emon- 011221433</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203157" y="3300564"/>
            <a:ext cx="6726882" cy="6119519"/>
            <a:chOff x="0" y="0"/>
            <a:chExt cx="1042170" cy="948074"/>
          </a:xfrm>
        </p:grpSpPr>
        <p:sp>
          <p:nvSpPr>
            <p:cNvPr name="Freeform 3" id="3"/>
            <p:cNvSpPr/>
            <p:nvPr/>
          </p:nvSpPr>
          <p:spPr>
            <a:xfrm flipH="false" flipV="false" rot="0">
              <a:off x="0" y="0"/>
              <a:ext cx="1042170" cy="948074"/>
            </a:xfrm>
            <a:custGeom>
              <a:avLst/>
              <a:gdLst/>
              <a:ahLst/>
              <a:cxnLst/>
              <a:rect r="r" b="b" t="t" l="l"/>
              <a:pathLst>
                <a:path h="948074" w="1042170">
                  <a:moveTo>
                    <a:pt x="23018" y="0"/>
                  </a:moveTo>
                  <a:lnTo>
                    <a:pt x="1019152" y="0"/>
                  </a:lnTo>
                  <a:cubicBezTo>
                    <a:pt x="1025257" y="0"/>
                    <a:pt x="1031112" y="2425"/>
                    <a:pt x="1035428" y="6742"/>
                  </a:cubicBezTo>
                  <a:cubicBezTo>
                    <a:pt x="1039745" y="11058"/>
                    <a:pt x="1042170" y="16913"/>
                    <a:pt x="1042170" y="23018"/>
                  </a:cubicBezTo>
                  <a:lnTo>
                    <a:pt x="1042170" y="925056"/>
                  </a:lnTo>
                  <a:cubicBezTo>
                    <a:pt x="1042170" y="937768"/>
                    <a:pt x="1031865" y="948074"/>
                    <a:pt x="1019152" y="948074"/>
                  </a:cubicBezTo>
                  <a:lnTo>
                    <a:pt x="23018" y="948074"/>
                  </a:lnTo>
                  <a:cubicBezTo>
                    <a:pt x="10305" y="948074"/>
                    <a:pt x="0" y="937768"/>
                    <a:pt x="0" y="925056"/>
                  </a:cubicBezTo>
                  <a:lnTo>
                    <a:pt x="0" y="23018"/>
                  </a:lnTo>
                  <a:cubicBezTo>
                    <a:pt x="0" y="10305"/>
                    <a:pt x="10305" y="0"/>
                    <a:pt x="23018" y="0"/>
                  </a:cubicBezTo>
                  <a:close/>
                </a:path>
              </a:pathLst>
            </a:custGeom>
            <a:blipFill>
              <a:blip r:embed="rId2"/>
              <a:stretch>
                <a:fillRect l="-22631" t="0" r="-22631" b="0"/>
              </a:stretch>
            </a:blipFill>
          </p:spPr>
        </p:sp>
      </p:grpSp>
      <p:grpSp>
        <p:nvGrpSpPr>
          <p:cNvPr name="Group 4" id="4"/>
          <p:cNvGrpSpPr/>
          <p:nvPr/>
        </p:nvGrpSpPr>
        <p:grpSpPr>
          <a:xfrm rot="0">
            <a:off x="7125499" y="4307134"/>
            <a:ext cx="10133801" cy="4951166"/>
            <a:chOff x="0" y="0"/>
            <a:chExt cx="2668985" cy="1304011"/>
          </a:xfrm>
        </p:grpSpPr>
        <p:sp>
          <p:nvSpPr>
            <p:cNvPr name="Freeform 5" id="5"/>
            <p:cNvSpPr/>
            <p:nvPr/>
          </p:nvSpPr>
          <p:spPr>
            <a:xfrm flipH="false" flipV="false" rot="0">
              <a:off x="0" y="0"/>
              <a:ext cx="2668985" cy="1304011"/>
            </a:xfrm>
            <a:custGeom>
              <a:avLst/>
              <a:gdLst/>
              <a:ahLst/>
              <a:cxnLst/>
              <a:rect r="r" b="b" t="t" l="l"/>
              <a:pathLst>
                <a:path h="1304011" w="2668985">
                  <a:moveTo>
                    <a:pt x="15279" y="0"/>
                  </a:moveTo>
                  <a:lnTo>
                    <a:pt x="2653705" y="0"/>
                  </a:lnTo>
                  <a:cubicBezTo>
                    <a:pt x="2662144" y="0"/>
                    <a:pt x="2668985" y="6841"/>
                    <a:pt x="2668985" y="15279"/>
                  </a:cubicBezTo>
                  <a:lnTo>
                    <a:pt x="2668985" y="1288731"/>
                  </a:lnTo>
                  <a:cubicBezTo>
                    <a:pt x="2668985" y="1297170"/>
                    <a:pt x="2662144" y="1304011"/>
                    <a:pt x="2653705" y="1304011"/>
                  </a:cubicBezTo>
                  <a:lnTo>
                    <a:pt x="15279" y="1304011"/>
                  </a:lnTo>
                  <a:cubicBezTo>
                    <a:pt x="6841" y="1304011"/>
                    <a:pt x="0" y="1297170"/>
                    <a:pt x="0" y="1288731"/>
                  </a:cubicBezTo>
                  <a:lnTo>
                    <a:pt x="0" y="15279"/>
                  </a:lnTo>
                  <a:cubicBezTo>
                    <a:pt x="0" y="6841"/>
                    <a:pt x="6841" y="0"/>
                    <a:pt x="15279" y="0"/>
                  </a:cubicBezTo>
                  <a:close/>
                </a:path>
              </a:pathLst>
            </a:custGeom>
            <a:solidFill>
              <a:srgbClr val="000000"/>
            </a:solidFill>
            <a:ln w="19050" cap="sq">
              <a:solidFill>
                <a:srgbClr val="40DDDF"/>
              </a:solidFill>
              <a:prstDash val="solid"/>
              <a:miter/>
            </a:ln>
          </p:spPr>
        </p:sp>
        <p:sp>
          <p:nvSpPr>
            <p:cNvPr name="TextBox 6" id="6"/>
            <p:cNvSpPr txBox="true"/>
            <p:nvPr/>
          </p:nvSpPr>
          <p:spPr>
            <a:xfrm>
              <a:off x="0" y="-38100"/>
              <a:ext cx="2668985" cy="1342111"/>
            </a:xfrm>
            <a:prstGeom prst="rect">
              <a:avLst/>
            </a:prstGeom>
          </p:spPr>
          <p:txBody>
            <a:bodyPr anchor="ctr" rtlCol="false" tIns="50800" lIns="50800" bIns="50800" rIns="50800"/>
            <a:lstStyle/>
            <a:p>
              <a:pPr algn="ctr">
                <a:lnSpc>
                  <a:spcPts val="3359"/>
                </a:lnSpc>
              </a:pPr>
            </a:p>
          </p:txBody>
        </p:sp>
      </p:grpSp>
      <p:sp>
        <p:nvSpPr>
          <p:cNvPr name="TextBox 7" id="7"/>
          <p:cNvSpPr txBox="true"/>
          <p:nvPr/>
        </p:nvSpPr>
        <p:spPr>
          <a:xfrm rot="0">
            <a:off x="1803138" y="982755"/>
            <a:ext cx="8134350" cy="963326"/>
          </a:xfrm>
          <a:prstGeom prst="rect">
            <a:avLst/>
          </a:prstGeom>
        </p:spPr>
        <p:txBody>
          <a:bodyPr anchor="t" rtlCol="false" tIns="0" lIns="0" bIns="0" rIns="0">
            <a:spAutoFit/>
          </a:bodyPr>
          <a:lstStyle/>
          <a:p>
            <a:pPr algn="l">
              <a:lnSpc>
                <a:spcPts val="7297"/>
              </a:lnSpc>
            </a:pPr>
            <a:r>
              <a:rPr lang="en-US" sz="7297">
                <a:solidFill>
                  <a:srgbClr val="40DDDF"/>
                </a:solidFill>
                <a:latin typeface="Montserrat"/>
                <a:ea typeface="Montserrat"/>
                <a:cs typeface="Montserrat"/>
                <a:sym typeface="Montserrat"/>
              </a:rPr>
              <a:t>TAKEAWAYS</a:t>
            </a:r>
          </a:p>
        </p:txBody>
      </p:sp>
      <p:sp>
        <p:nvSpPr>
          <p:cNvPr name="Freeform 8" id="8"/>
          <p:cNvSpPr/>
          <p:nvPr/>
        </p:nvSpPr>
        <p:spPr>
          <a:xfrm flipH="false" flipV="false" rot="0">
            <a:off x="8502843" y="3300564"/>
            <a:ext cx="641157" cy="641157"/>
          </a:xfrm>
          <a:custGeom>
            <a:avLst/>
            <a:gdLst/>
            <a:ahLst/>
            <a:cxnLst/>
            <a:rect r="r" b="b" t="t" l="l"/>
            <a:pathLst>
              <a:path h="641157" w="641157">
                <a:moveTo>
                  <a:pt x="0" y="0"/>
                </a:moveTo>
                <a:lnTo>
                  <a:pt x="641157" y="0"/>
                </a:lnTo>
                <a:lnTo>
                  <a:pt x="641157" y="641157"/>
                </a:lnTo>
                <a:lnTo>
                  <a:pt x="0" y="6411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9" id="9"/>
          <p:cNvGrpSpPr/>
          <p:nvPr/>
        </p:nvGrpSpPr>
        <p:grpSpPr>
          <a:xfrm rot="-10800000">
            <a:off x="16648167" y="4307134"/>
            <a:ext cx="1639833" cy="4951166"/>
            <a:chOff x="0" y="0"/>
            <a:chExt cx="431890" cy="1304011"/>
          </a:xfrm>
        </p:grpSpPr>
        <p:sp>
          <p:nvSpPr>
            <p:cNvPr name="Freeform 10" id="10"/>
            <p:cNvSpPr/>
            <p:nvPr/>
          </p:nvSpPr>
          <p:spPr>
            <a:xfrm flipH="false" flipV="false" rot="0">
              <a:off x="0" y="0"/>
              <a:ext cx="431890" cy="1304011"/>
            </a:xfrm>
            <a:custGeom>
              <a:avLst/>
              <a:gdLst/>
              <a:ahLst/>
              <a:cxnLst/>
              <a:rect r="r" b="b" t="t" l="l"/>
              <a:pathLst>
                <a:path h="1304011" w="431890">
                  <a:moveTo>
                    <a:pt x="0" y="0"/>
                  </a:moveTo>
                  <a:lnTo>
                    <a:pt x="431890" y="0"/>
                  </a:lnTo>
                  <a:lnTo>
                    <a:pt x="431890" y="1304011"/>
                  </a:lnTo>
                  <a:lnTo>
                    <a:pt x="0" y="1304011"/>
                  </a:lnTo>
                  <a:close/>
                </a:path>
              </a:pathLst>
            </a:custGeom>
            <a:gradFill rotWithShape="true">
              <a:gsLst>
                <a:gs pos="0">
                  <a:srgbClr val="40DDDF">
                    <a:alpha val="100000"/>
                  </a:srgbClr>
                </a:gs>
                <a:gs pos="100000">
                  <a:srgbClr val="000000">
                    <a:alpha val="0"/>
                  </a:srgbClr>
                </a:gs>
              </a:gsLst>
              <a:lin ang="0"/>
            </a:gradFill>
          </p:spPr>
        </p:sp>
        <p:sp>
          <p:nvSpPr>
            <p:cNvPr name="TextBox 11" id="11"/>
            <p:cNvSpPr txBox="true"/>
            <p:nvPr/>
          </p:nvSpPr>
          <p:spPr>
            <a:xfrm>
              <a:off x="0" y="-38100"/>
              <a:ext cx="431890" cy="1342111"/>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7510139" y="4413973"/>
            <a:ext cx="9399089" cy="4530388"/>
          </a:xfrm>
          <a:prstGeom prst="rect">
            <a:avLst/>
          </a:prstGeom>
        </p:spPr>
        <p:txBody>
          <a:bodyPr anchor="t" rtlCol="false" tIns="0" lIns="0" bIns="0" rIns="0">
            <a:spAutoFit/>
          </a:bodyPr>
          <a:lstStyle/>
          <a:p>
            <a:pPr algn="l" marL="506517" indent="-253259" lvl="1">
              <a:lnSpc>
                <a:spcPts val="3284"/>
              </a:lnSpc>
              <a:buFont typeface="Arial"/>
              <a:buChar char="•"/>
            </a:pPr>
            <a:r>
              <a:rPr lang="en-US" sz="2346">
                <a:solidFill>
                  <a:srgbClr val="FFFFFF"/>
                </a:solidFill>
                <a:latin typeface="Open Sans"/>
                <a:ea typeface="Open Sans"/>
                <a:cs typeface="Open Sans"/>
                <a:sym typeface="Open Sans"/>
              </a:rPr>
              <a:t>A Free and Open Source Security Tool for Mobile App Security Assessment.</a:t>
            </a:r>
          </a:p>
          <a:p>
            <a:pPr algn="l">
              <a:lnSpc>
                <a:spcPts val="3284"/>
              </a:lnSpc>
            </a:pPr>
          </a:p>
          <a:p>
            <a:pPr algn="l" marL="506517" indent="-253259" lvl="1">
              <a:lnSpc>
                <a:spcPts val="3284"/>
              </a:lnSpc>
              <a:buFont typeface="Arial"/>
              <a:buChar char="•"/>
            </a:pPr>
            <a:r>
              <a:rPr lang="en-US" sz="2346">
                <a:solidFill>
                  <a:srgbClr val="FFFFFF"/>
                </a:solidFill>
                <a:latin typeface="Open Sans"/>
                <a:ea typeface="Open Sans"/>
                <a:cs typeface="Open Sans"/>
                <a:sym typeface="Open Sans"/>
              </a:rPr>
              <a:t>Mobile App Pentesters/Mobile Malware Analysts- How to make your job easier with MobSF.</a:t>
            </a:r>
          </a:p>
          <a:p>
            <a:pPr algn="l">
              <a:lnSpc>
                <a:spcPts val="3284"/>
              </a:lnSpc>
            </a:pPr>
          </a:p>
          <a:p>
            <a:pPr algn="l" marL="506517" indent="-253259" lvl="1">
              <a:lnSpc>
                <a:spcPts val="3284"/>
              </a:lnSpc>
              <a:buFont typeface="Arial"/>
              <a:buChar char="•"/>
            </a:pPr>
            <a:r>
              <a:rPr lang="en-US" sz="2346">
                <a:solidFill>
                  <a:srgbClr val="FFFFFF"/>
                </a:solidFill>
                <a:latin typeface="Open Sans"/>
                <a:ea typeface="Open Sans"/>
                <a:cs typeface="Open Sans"/>
                <a:sym typeface="Open Sans"/>
              </a:rPr>
              <a:t>Developers- Build secure mobile Apps identifying vulnerabilities at all stages of development. (SDLC Integration)</a:t>
            </a:r>
          </a:p>
          <a:p>
            <a:pPr algn="l">
              <a:lnSpc>
                <a:spcPts val="3284"/>
              </a:lnSpc>
            </a:pPr>
          </a:p>
          <a:p>
            <a:pPr algn="l" marL="506517" indent="-253259" lvl="1">
              <a:lnSpc>
                <a:spcPts val="3284"/>
              </a:lnSpc>
              <a:buFont typeface="Arial"/>
              <a:buChar char="•"/>
            </a:pPr>
            <a:r>
              <a:rPr lang="en-US" sz="2346">
                <a:solidFill>
                  <a:srgbClr val="FFFFFF"/>
                </a:solidFill>
                <a:latin typeface="Open Sans"/>
                <a:ea typeface="Open Sans"/>
                <a:cs typeface="Open Sans"/>
                <a:sym typeface="Open Sans"/>
              </a:rPr>
              <a:t>Web Pentesters- REST API Fuzzer capable of detecting vulnerabilities like SSRF, XXE, IDOR etc.</a:t>
            </a:r>
          </a:p>
        </p:txBody>
      </p:sp>
      <p:sp>
        <p:nvSpPr>
          <p:cNvPr name="Freeform 13" id="13"/>
          <p:cNvSpPr/>
          <p:nvPr/>
        </p:nvSpPr>
        <p:spPr>
          <a:xfrm flipH="false" flipV="false" rot="0">
            <a:off x="14779698" y="1052123"/>
            <a:ext cx="376666" cy="446131"/>
          </a:xfrm>
          <a:custGeom>
            <a:avLst/>
            <a:gdLst/>
            <a:ahLst/>
            <a:cxnLst/>
            <a:rect r="r" b="b" t="t" l="l"/>
            <a:pathLst>
              <a:path h="446131" w="376666">
                <a:moveTo>
                  <a:pt x="0" y="0"/>
                </a:moveTo>
                <a:lnTo>
                  <a:pt x="376666" y="0"/>
                </a:lnTo>
                <a:lnTo>
                  <a:pt x="376666" y="446131"/>
                </a:lnTo>
                <a:lnTo>
                  <a:pt x="0" y="44613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4" id="14"/>
          <p:cNvSpPr txBox="true"/>
          <p:nvPr/>
        </p:nvSpPr>
        <p:spPr>
          <a:xfrm rot="0">
            <a:off x="15156364" y="1128821"/>
            <a:ext cx="2358460" cy="264160"/>
          </a:xfrm>
          <a:prstGeom prst="rect">
            <a:avLst/>
          </a:prstGeom>
        </p:spPr>
        <p:txBody>
          <a:bodyPr anchor="t" rtlCol="false" tIns="0" lIns="0" bIns="0" rIns="0">
            <a:spAutoFit/>
          </a:bodyPr>
          <a:lstStyle/>
          <a:p>
            <a:pPr algn="r">
              <a:lnSpc>
                <a:spcPts val="2239"/>
              </a:lnSpc>
              <a:spcBef>
                <a:spcPct val="0"/>
              </a:spcBef>
            </a:pPr>
            <a:r>
              <a:rPr lang="en-US" b="true" sz="1599">
                <a:solidFill>
                  <a:srgbClr val="FFFFFF"/>
                </a:solidFill>
                <a:latin typeface="Open Sans Bold"/>
                <a:ea typeface="Open Sans Bold"/>
                <a:cs typeface="Open Sans Bold"/>
                <a:sym typeface="Open Sans Bold"/>
              </a:rPr>
              <a:t>GHOST_DEVELOPERS</a:t>
            </a:r>
          </a:p>
        </p:txBody>
      </p:sp>
      <p:grpSp>
        <p:nvGrpSpPr>
          <p:cNvPr name="Group 15" id="15"/>
          <p:cNvGrpSpPr/>
          <p:nvPr/>
        </p:nvGrpSpPr>
        <p:grpSpPr>
          <a:xfrm rot="0">
            <a:off x="-19050" y="3243089"/>
            <a:ext cx="2667312" cy="6234468"/>
            <a:chOff x="0" y="0"/>
            <a:chExt cx="702502" cy="1642000"/>
          </a:xfrm>
        </p:grpSpPr>
        <p:sp>
          <p:nvSpPr>
            <p:cNvPr name="Freeform 16" id="16"/>
            <p:cNvSpPr/>
            <p:nvPr/>
          </p:nvSpPr>
          <p:spPr>
            <a:xfrm flipH="false" flipV="false" rot="0">
              <a:off x="0" y="0"/>
              <a:ext cx="702502" cy="1642000"/>
            </a:xfrm>
            <a:custGeom>
              <a:avLst/>
              <a:gdLst/>
              <a:ahLst/>
              <a:cxnLst/>
              <a:rect r="r" b="b" t="t" l="l"/>
              <a:pathLst>
                <a:path h="1642000" w="702502">
                  <a:moveTo>
                    <a:pt x="0" y="0"/>
                  </a:moveTo>
                  <a:lnTo>
                    <a:pt x="702502" y="0"/>
                  </a:lnTo>
                  <a:lnTo>
                    <a:pt x="702502" y="1642000"/>
                  </a:lnTo>
                  <a:lnTo>
                    <a:pt x="0" y="1642000"/>
                  </a:lnTo>
                  <a:close/>
                </a:path>
              </a:pathLst>
            </a:custGeom>
            <a:gradFill rotWithShape="true">
              <a:gsLst>
                <a:gs pos="0">
                  <a:srgbClr val="000000">
                    <a:alpha val="100000"/>
                  </a:srgbClr>
                </a:gs>
                <a:gs pos="100000">
                  <a:srgbClr val="000000">
                    <a:alpha val="0"/>
                  </a:srgbClr>
                </a:gs>
              </a:gsLst>
              <a:lin ang="0"/>
            </a:gradFill>
          </p:spPr>
        </p:sp>
        <p:sp>
          <p:nvSpPr>
            <p:cNvPr name="TextBox 17" id="17"/>
            <p:cNvSpPr txBox="true"/>
            <p:nvPr/>
          </p:nvSpPr>
          <p:spPr>
            <a:xfrm>
              <a:off x="0" y="-38100"/>
              <a:ext cx="702502" cy="1680100"/>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0239254" y="1016406"/>
            <a:ext cx="8270372" cy="6318519"/>
            <a:chOff x="0" y="0"/>
            <a:chExt cx="1281297" cy="978904"/>
          </a:xfrm>
        </p:grpSpPr>
        <p:sp>
          <p:nvSpPr>
            <p:cNvPr name="Freeform 3" id="3"/>
            <p:cNvSpPr/>
            <p:nvPr/>
          </p:nvSpPr>
          <p:spPr>
            <a:xfrm flipH="true" flipV="false" rot="0">
              <a:off x="0" y="0"/>
              <a:ext cx="1281297" cy="978904"/>
            </a:xfrm>
            <a:custGeom>
              <a:avLst/>
              <a:gdLst/>
              <a:ahLst/>
              <a:cxnLst/>
              <a:rect r="r" b="b" t="t" l="l"/>
              <a:pathLst>
                <a:path h="978904" w="1281297">
                  <a:moveTo>
                    <a:pt x="1262575" y="0"/>
                  </a:moveTo>
                  <a:lnTo>
                    <a:pt x="18722" y="0"/>
                  </a:lnTo>
                  <a:cubicBezTo>
                    <a:pt x="13757" y="0"/>
                    <a:pt x="8995" y="1972"/>
                    <a:pt x="5484" y="5484"/>
                  </a:cubicBezTo>
                  <a:cubicBezTo>
                    <a:pt x="1972" y="8995"/>
                    <a:pt x="0" y="13757"/>
                    <a:pt x="0" y="18722"/>
                  </a:cubicBezTo>
                  <a:lnTo>
                    <a:pt x="0" y="960182"/>
                  </a:lnTo>
                  <a:cubicBezTo>
                    <a:pt x="0" y="970522"/>
                    <a:pt x="8382" y="978904"/>
                    <a:pt x="18722" y="978904"/>
                  </a:cubicBezTo>
                  <a:lnTo>
                    <a:pt x="1262575" y="978904"/>
                  </a:lnTo>
                  <a:cubicBezTo>
                    <a:pt x="1272915" y="978904"/>
                    <a:pt x="1281297" y="970522"/>
                    <a:pt x="1281297" y="960182"/>
                  </a:cubicBezTo>
                  <a:lnTo>
                    <a:pt x="1281297" y="18722"/>
                  </a:lnTo>
                  <a:cubicBezTo>
                    <a:pt x="1281297" y="8382"/>
                    <a:pt x="1272915" y="0"/>
                    <a:pt x="1262575" y="0"/>
                  </a:cubicBezTo>
                  <a:close/>
                </a:path>
              </a:pathLst>
            </a:custGeom>
            <a:blipFill>
              <a:blip r:embed="rId2"/>
              <a:stretch>
                <a:fillRect l="-6634" t="0" r="-29186" b="0"/>
              </a:stretch>
            </a:blipFill>
          </p:spPr>
        </p:sp>
      </p:grpSp>
      <p:grpSp>
        <p:nvGrpSpPr>
          <p:cNvPr name="Group 4" id="4"/>
          <p:cNvGrpSpPr/>
          <p:nvPr/>
        </p:nvGrpSpPr>
        <p:grpSpPr>
          <a:xfrm rot="0">
            <a:off x="10229729" y="916696"/>
            <a:ext cx="4549969" cy="6542611"/>
            <a:chOff x="0" y="0"/>
            <a:chExt cx="1198346" cy="1723157"/>
          </a:xfrm>
        </p:grpSpPr>
        <p:sp>
          <p:nvSpPr>
            <p:cNvPr name="Freeform 5" id="5"/>
            <p:cNvSpPr/>
            <p:nvPr/>
          </p:nvSpPr>
          <p:spPr>
            <a:xfrm flipH="false" flipV="false" rot="0">
              <a:off x="0" y="0"/>
              <a:ext cx="1198346" cy="1723157"/>
            </a:xfrm>
            <a:custGeom>
              <a:avLst/>
              <a:gdLst/>
              <a:ahLst/>
              <a:cxnLst/>
              <a:rect r="r" b="b" t="t" l="l"/>
              <a:pathLst>
                <a:path h="1723157" w="1198346">
                  <a:moveTo>
                    <a:pt x="0" y="0"/>
                  </a:moveTo>
                  <a:lnTo>
                    <a:pt x="1198346" y="0"/>
                  </a:lnTo>
                  <a:lnTo>
                    <a:pt x="1198346" y="1723157"/>
                  </a:lnTo>
                  <a:lnTo>
                    <a:pt x="0" y="1723157"/>
                  </a:lnTo>
                  <a:close/>
                </a:path>
              </a:pathLst>
            </a:custGeom>
            <a:gradFill rotWithShape="true">
              <a:gsLst>
                <a:gs pos="0">
                  <a:srgbClr val="000000">
                    <a:alpha val="100000"/>
                  </a:srgbClr>
                </a:gs>
                <a:gs pos="100000">
                  <a:srgbClr val="000000">
                    <a:alpha val="0"/>
                  </a:srgbClr>
                </a:gs>
              </a:gsLst>
              <a:lin ang="0"/>
            </a:gradFill>
          </p:spPr>
        </p:sp>
        <p:sp>
          <p:nvSpPr>
            <p:cNvPr name="TextBox 6" id="6"/>
            <p:cNvSpPr txBox="true"/>
            <p:nvPr/>
          </p:nvSpPr>
          <p:spPr>
            <a:xfrm>
              <a:off x="0" y="-38100"/>
              <a:ext cx="1198346" cy="1761257"/>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1028179" y="1903594"/>
            <a:ext cx="7841877" cy="6985196"/>
            <a:chOff x="0" y="0"/>
            <a:chExt cx="2065350" cy="1839722"/>
          </a:xfrm>
        </p:grpSpPr>
        <p:sp>
          <p:nvSpPr>
            <p:cNvPr name="Freeform 8" id="8"/>
            <p:cNvSpPr/>
            <p:nvPr/>
          </p:nvSpPr>
          <p:spPr>
            <a:xfrm flipH="false" flipV="false" rot="0">
              <a:off x="0" y="0"/>
              <a:ext cx="2065350" cy="1839722"/>
            </a:xfrm>
            <a:custGeom>
              <a:avLst/>
              <a:gdLst/>
              <a:ahLst/>
              <a:cxnLst/>
              <a:rect r="r" b="b" t="t" l="l"/>
              <a:pathLst>
                <a:path h="1839722" w="2065350">
                  <a:moveTo>
                    <a:pt x="19745" y="0"/>
                  </a:moveTo>
                  <a:lnTo>
                    <a:pt x="2045605" y="0"/>
                  </a:lnTo>
                  <a:cubicBezTo>
                    <a:pt x="2056510" y="0"/>
                    <a:pt x="2065350" y="8840"/>
                    <a:pt x="2065350" y="19745"/>
                  </a:cubicBezTo>
                  <a:lnTo>
                    <a:pt x="2065350" y="1819977"/>
                  </a:lnTo>
                  <a:cubicBezTo>
                    <a:pt x="2065350" y="1825214"/>
                    <a:pt x="2063270" y="1830236"/>
                    <a:pt x="2059567" y="1833939"/>
                  </a:cubicBezTo>
                  <a:cubicBezTo>
                    <a:pt x="2055864" y="1837642"/>
                    <a:pt x="2050842" y="1839722"/>
                    <a:pt x="2045605" y="1839722"/>
                  </a:cubicBezTo>
                  <a:lnTo>
                    <a:pt x="19745" y="1839722"/>
                  </a:lnTo>
                  <a:cubicBezTo>
                    <a:pt x="8840" y="1839722"/>
                    <a:pt x="0" y="1830882"/>
                    <a:pt x="0" y="1819977"/>
                  </a:cubicBezTo>
                  <a:lnTo>
                    <a:pt x="0" y="19745"/>
                  </a:lnTo>
                  <a:cubicBezTo>
                    <a:pt x="0" y="8840"/>
                    <a:pt x="8840" y="0"/>
                    <a:pt x="19745" y="0"/>
                  </a:cubicBezTo>
                  <a:close/>
                </a:path>
              </a:pathLst>
            </a:custGeom>
            <a:solidFill>
              <a:srgbClr val="40DDDF"/>
            </a:solidFill>
            <a:ln w="19050" cap="sq">
              <a:solidFill>
                <a:srgbClr val="40DDDF"/>
              </a:solidFill>
              <a:prstDash val="solid"/>
              <a:miter/>
            </a:ln>
          </p:spPr>
        </p:sp>
        <p:sp>
          <p:nvSpPr>
            <p:cNvPr name="TextBox 9" id="9"/>
            <p:cNvSpPr txBox="true"/>
            <p:nvPr/>
          </p:nvSpPr>
          <p:spPr>
            <a:xfrm>
              <a:off x="0" y="-38100"/>
              <a:ext cx="2065350" cy="1877822"/>
            </a:xfrm>
            <a:prstGeom prst="rect">
              <a:avLst/>
            </a:prstGeom>
          </p:spPr>
          <p:txBody>
            <a:bodyPr anchor="ctr" rtlCol="false" tIns="50800" lIns="50800" bIns="50800" rIns="50800"/>
            <a:lstStyle/>
            <a:p>
              <a:pPr algn="ctr">
                <a:lnSpc>
                  <a:spcPts val="3359"/>
                </a:lnSpc>
              </a:pPr>
            </a:p>
          </p:txBody>
        </p:sp>
      </p:grpSp>
      <p:grpSp>
        <p:nvGrpSpPr>
          <p:cNvPr name="Group 10" id="10"/>
          <p:cNvGrpSpPr/>
          <p:nvPr/>
        </p:nvGrpSpPr>
        <p:grpSpPr>
          <a:xfrm rot="0">
            <a:off x="1009650" y="1028700"/>
            <a:ext cx="7860406" cy="1529370"/>
            <a:chOff x="0" y="0"/>
            <a:chExt cx="2070230" cy="402797"/>
          </a:xfrm>
        </p:grpSpPr>
        <p:sp>
          <p:nvSpPr>
            <p:cNvPr name="Freeform 11" id="11"/>
            <p:cNvSpPr/>
            <p:nvPr/>
          </p:nvSpPr>
          <p:spPr>
            <a:xfrm flipH="false" flipV="false" rot="0">
              <a:off x="0" y="0"/>
              <a:ext cx="2070230" cy="402797"/>
            </a:xfrm>
            <a:custGeom>
              <a:avLst/>
              <a:gdLst/>
              <a:ahLst/>
              <a:cxnLst/>
              <a:rect r="r" b="b" t="t" l="l"/>
              <a:pathLst>
                <a:path h="402797" w="2070230">
                  <a:moveTo>
                    <a:pt x="19699" y="0"/>
                  </a:moveTo>
                  <a:lnTo>
                    <a:pt x="2050532" y="0"/>
                  </a:lnTo>
                  <a:cubicBezTo>
                    <a:pt x="2055756" y="0"/>
                    <a:pt x="2060767" y="2075"/>
                    <a:pt x="2064461" y="5770"/>
                  </a:cubicBezTo>
                  <a:cubicBezTo>
                    <a:pt x="2068155" y="9464"/>
                    <a:pt x="2070230" y="14474"/>
                    <a:pt x="2070230" y="19699"/>
                  </a:cubicBezTo>
                  <a:lnTo>
                    <a:pt x="2070230" y="383099"/>
                  </a:lnTo>
                  <a:cubicBezTo>
                    <a:pt x="2070230" y="393978"/>
                    <a:pt x="2061411" y="402797"/>
                    <a:pt x="2050532" y="402797"/>
                  </a:cubicBezTo>
                  <a:lnTo>
                    <a:pt x="19699" y="402797"/>
                  </a:lnTo>
                  <a:cubicBezTo>
                    <a:pt x="8819" y="402797"/>
                    <a:pt x="0" y="393978"/>
                    <a:pt x="0" y="383099"/>
                  </a:cubicBezTo>
                  <a:lnTo>
                    <a:pt x="0" y="19699"/>
                  </a:lnTo>
                  <a:cubicBezTo>
                    <a:pt x="0" y="8819"/>
                    <a:pt x="8819" y="0"/>
                    <a:pt x="19699" y="0"/>
                  </a:cubicBezTo>
                  <a:close/>
                </a:path>
              </a:pathLst>
            </a:custGeom>
            <a:solidFill>
              <a:srgbClr val="000000"/>
            </a:solidFill>
            <a:ln w="19050" cap="sq">
              <a:solidFill>
                <a:srgbClr val="40DDDF"/>
              </a:solidFill>
              <a:prstDash val="solid"/>
              <a:miter/>
            </a:ln>
          </p:spPr>
        </p:sp>
        <p:sp>
          <p:nvSpPr>
            <p:cNvPr name="TextBox 12" id="12"/>
            <p:cNvSpPr txBox="true"/>
            <p:nvPr/>
          </p:nvSpPr>
          <p:spPr>
            <a:xfrm>
              <a:off x="0" y="-38100"/>
              <a:ext cx="2070230" cy="440897"/>
            </a:xfrm>
            <a:prstGeom prst="rect">
              <a:avLst/>
            </a:prstGeom>
          </p:spPr>
          <p:txBody>
            <a:bodyPr anchor="ctr" rtlCol="false" tIns="50800" lIns="50800" bIns="50800" rIns="50800"/>
            <a:lstStyle/>
            <a:p>
              <a:pPr algn="ctr">
                <a:lnSpc>
                  <a:spcPts val="3359"/>
                </a:lnSpc>
              </a:pPr>
            </a:p>
          </p:txBody>
        </p:sp>
      </p:grpSp>
      <p:sp>
        <p:nvSpPr>
          <p:cNvPr name="TextBox 13" id="13"/>
          <p:cNvSpPr txBox="true"/>
          <p:nvPr/>
        </p:nvSpPr>
        <p:spPr>
          <a:xfrm rot="0">
            <a:off x="2218138" y="9033604"/>
            <a:ext cx="4171221" cy="868466"/>
          </a:xfrm>
          <a:prstGeom prst="rect">
            <a:avLst/>
          </a:prstGeom>
        </p:spPr>
        <p:txBody>
          <a:bodyPr anchor="t" rtlCol="false" tIns="0" lIns="0" bIns="0" rIns="0">
            <a:spAutoFit/>
          </a:bodyPr>
          <a:lstStyle/>
          <a:p>
            <a:pPr algn="l">
              <a:lnSpc>
                <a:spcPts val="6546"/>
              </a:lnSpc>
            </a:pPr>
            <a:r>
              <a:rPr lang="en-US" sz="6546">
                <a:solidFill>
                  <a:srgbClr val="40DDDF"/>
                </a:solidFill>
                <a:latin typeface="Montserrat"/>
                <a:ea typeface="Montserrat"/>
                <a:cs typeface="Montserrat"/>
                <a:sym typeface="Montserrat"/>
              </a:rPr>
              <a:t>AGENDA</a:t>
            </a:r>
          </a:p>
        </p:txBody>
      </p:sp>
      <p:sp>
        <p:nvSpPr>
          <p:cNvPr name="Freeform 14" id="14"/>
          <p:cNvSpPr/>
          <p:nvPr/>
        </p:nvSpPr>
        <p:spPr>
          <a:xfrm flipH="false" flipV="false" rot="0">
            <a:off x="9449286" y="1028700"/>
            <a:ext cx="641157" cy="641157"/>
          </a:xfrm>
          <a:custGeom>
            <a:avLst/>
            <a:gdLst/>
            <a:ahLst/>
            <a:cxnLst/>
            <a:rect r="r" b="b" t="t" l="l"/>
            <a:pathLst>
              <a:path h="641157" w="641157">
                <a:moveTo>
                  <a:pt x="0" y="0"/>
                </a:moveTo>
                <a:lnTo>
                  <a:pt x="641157" y="0"/>
                </a:lnTo>
                <a:lnTo>
                  <a:pt x="641157" y="641157"/>
                </a:lnTo>
                <a:lnTo>
                  <a:pt x="0" y="6411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5" id="15"/>
          <p:cNvGrpSpPr/>
          <p:nvPr/>
        </p:nvGrpSpPr>
        <p:grpSpPr>
          <a:xfrm rot="5400000">
            <a:off x="4444553" y="-3415853"/>
            <a:ext cx="1009650" cy="7841356"/>
            <a:chOff x="0" y="0"/>
            <a:chExt cx="265916" cy="2065213"/>
          </a:xfrm>
        </p:grpSpPr>
        <p:sp>
          <p:nvSpPr>
            <p:cNvPr name="Freeform 16" id="16"/>
            <p:cNvSpPr/>
            <p:nvPr/>
          </p:nvSpPr>
          <p:spPr>
            <a:xfrm flipH="false" flipV="false" rot="0">
              <a:off x="0" y="0"/>
              <a:ext cx="265916" cy="2065213"/>
            </a:xfrm>
            <a:custGeom>
              <a:avLst/>
              <a:gdLst/>
              <a:ahLst/>
              <a:cxnLst/>
              <a:rect r="r" b="b" t="t" l="l"/>
              <a:pathLst>
                <a:path h="2065213" w="265916">
                  <a:moveTo>
                    <a:pt x="0" y="0"/>
                  </a:moveTo>
                  <a:lnTo>
                    <a:pt x="265916" y="0"/>
                  </a:lnTo>
                  <a:lnTo>
                    <a:pt x="265916" y="2065213"/>
                  </a:lnTo>
                  <a:lnTo>
                    <a:pt x="0" y="2065213"/>
                  </a:lnTo>
                  <a:close/>
                </a:path>
              </a:pathLst>
            </a:custGeom>
            <a:gradFill rotWithShape="true">
              <a:gsLst>
                <a:gs pos="0">
                  <a:srgbClr val="40DDDF">
                    <a:alpha val="100000"/>
                  </a:srgbClr>
                </a:gs>
                <a:gs pos="100000">
                  <a:srgbClr val="000000">
                    <a:alpha val="0"/>
                  </a:srgbClr>
                </a:gs>
              </a:gsLst>
              <a:lin ang="0"/>
            </a:gradFill>
          </p:spPr>
        </p:sp>
        <p:sp>
          <p:nvSpPr>
            <p:cNvPr name="TextBox 17" id="17"/>
            <p:cNvSpPr txBox="true"/>
            <p:nvPr/>
          </p:nvSpPr>
          <p:spPr>
            <a:xfrm>
              <a:off x="0" y="-38100"/>
              <a:ext cx="265916" cy="2103313"/>
            </a:xfrm>
            <a:prstGeom prst="rect">
              <a:avLst/>
            </a:prstGeom>
          </p:spPr>
          <p:txBody>
            <a:bodyPr anchor="ctr" rtlCol="false" tIns="50800" lIns="50800" bIns="50800" rIns="50800"/>
            <a:lstStyle/>
            <a:p>
              <a:pPr algn="ctr">
                <a:lnSpc>
                  <a:spcPts val="2659"/>
                </a:lnSpc>
                <a:spcBef>
                  <a:spcPct val="0"/>
                </a:spcBef>
              </a:pPr>
            </a:p>
          </p:txBody>
        </p:sp>
      </p:grpSp>
      <p:sp>
        <p:nvSpPr>
          <p:cNvPr name="TextBox 18" id="18"/>
          <p:cNvSpPr txBox="true"/>
          <p:nvPr/>
        </p:nvSpPr>
        <p:spPr>
          <a:xfrm rot="0">
            <a:off x="1191622" y="2529495"/>
            <a:ext cx="7559562" cy="6728805"/>
          </a:xfrm>
          <a:prstGeom prst="rect">
            <a:avLst/>
          </a:prstGeom>
        </p:spPr>
        <p:txBody>
          <a:bodyPr anchor="t" rtlCol="false" tIns="0" lIns="0" bIns="0" rIns="0">
            <a:spAutoFit/>
          </a:bodyPr>
          <a:lstStyle/>
          <a:p>
            <a:pPr algn="l" marL="483761" indent="-241881" lvl="1">
              <a:lnSpc>
                <a:spcPts val="3136"/>
              </a:lnSpc>
              <a:buFont typeface="Arial"/>
              <a:buChar char="•"/>
            </a:pPr>
            <a:r>
              <a:rPr lang="en-US" sz="2240">
                <a:solidFill>
                  <a:srgbClr val="000000"/>
                </a:solidFill>
                <a:latin typeface="Open Sans"/>
                <a:ea typeface="Open Sans"/>
                <a:cs typeface="Open Sans"/>
                <a:sym typeface="Open Sans"/>
              </a:rPr>
              <a:t>What is MobSF?</a:t>
            </a:r>
          </a:p>
          <a:p>
            <a:pPr algn="l" marL="483761" indent="-241881" lvl="1">
              <a:lnSpc>
                <a:spcPts val="3136"/>
              </a:lnSpc>
              <a:buFont typeface="Arial"/>
              <a:buChar char="•"/>
            </a:pPr>
            <a:r>
              <a:rPr lang="en-US" sz="2240">
                <a:solidFill>
                  <a:srgbClr val="000000"/>
                </a:solidFill>
                <a:latin typeface="Open Sans"/>
                <a:ea typeface="Open Sans"/>
                <a:cs typeface="Open Sans"/>
                <a:sym typeface="Open Sans"/>
              </a:rPr>
              <a:t>MobSF Architecture  -</a:t>
            </a:r>
          </a:p>
          <a:p>
            <a:pPr algn="l">
              <a:lnSpc>
                <a:spcPts val="3136"/>
              </a:lnSpc>
            </a:pPr>
            <a:r>
              <a:rPr lang="en-US" sz="2240">
                <a:solidFill>
                  <a:srgbClr val="000000"/>
                </a:solidFill>
                <a:latin typeface="Open Sans"/>
                <a:ea typeface="Open Sans"/>
                <a:cs typeface="Open Sans"/>
                <a:sym typeface="Open Sans"/>
              </a:rPr>
              <a:t>        Static Analyzer</a:t>
            </a:r>
          </a:p>
          <a:p>
            <a:pPr algn="l">
              <a:lnSpc>
                <a:spcPts val="3136"/>
              </a:lnSpc>
            </a:pPr>
            <a:r>
              <a:rPr lang="en-US" sz="2240">
                <a:solidFill>
                  <a:srgbClr val="000000"/>
                </a:solidFill>
                <a:latin typeface="Open Sans"/>
                <a:ea typeface="Open Sans"/>
                <a:cs typeface="Open Sans"/>
                <a:sym typeface="Open Sans"/>
              </a:rPr>
              <a:t>        Dynamic Analyzer</a:t>
            </a:r>
          </a:p>
          <a:p>
            <a:pPr algn="l">
              <a:lnSpc>
                <a:spcPts val="3136"/>
              </a:lnSpc>
            </a:pPr>
            <a:r>
              <a:rPr lang="en-US" sz="2240">
                <a:solidFill>
                  <a:srgbClr val="000000"/>
                </a:solidFill>
                <a:latin typeface="Open Sans"/>
                <a:ea typeface="Open Sans"/>
                <a:cs typeface="Open Sans"/>
                <a:sym typeface="Open Sans"/>
              </a:rPr>
              <a:t>        Web API Fuzzer</a:t>
            </a:r>
          </a:p>
          <a:p>
            <a:pPr algn="l" marL="483761" indent="-241881" lvl="1">
              <a:lnSpc>
                <a:spcPts val="3136"/>
              </a:lnSpc>
              <a:buFont typeface="Arial"/>
              <a:buChar char="•"/>
            </a:pPr>
            <a:r>
              <a:rPr lang="en-US" sz="2240">
                <a:solidFill>
                  <a:srgbClr val="000000"/>
                </a:solidFill>
                <a:latin typeface="Open Sans"/>
                <a:ea typeface="Open Sans"/>
                <a:cs typeface="Open Sans"/>
                <a:sym typeface="Open Sans"/>
              </a:rPr>
              <a:t>Static Analysis</a:t>
            </a:r>
          </a:p>
          <a:p>
            <a:pPr algn="l">
              <a:lnSpc>
                <a:spcPts val="3136"/>
              </a:lnSpc>
            </a:pPr>
            <a:r>
              <a:rPr lang="en-US" sz="2240">
                <a:solidFill>
                  <a:srgbClr val="000000"/>
                </a:solidFill>
                <a:latin typeface="Open Sans"/>
                <a:ea typeface="Open Sans"/>
                <a:cs typeface="Open Sans"/>
                <a:sym typeface="Open Sans"/>
              </a:rPr>
              <a:t>        Static Analysis &amp; some Statistics</a:t>
            </a:r>
          </a:p>
          <a:p>
            <a:pPr algn="l">
              <a:lnSpc>
                <a:spcPts val="3136"/>
              </a:lnSpc>
            </a:pPr>
            <a:r>
              <a:rPr lang="en-US" sz="2240">
                <a:solidFill>
                  <a:srgbClr val="000000"/>
                </a:solidFill>
                <a:latin typeface="Open Sans"/>
                <a:ea typeface="Open Sans"/>
                <a:cs typeface="Open Sans"/>
                <a:sym typeface="Open Sans"/>
              </a:rPr>
              <a:t>        Top Bangladeshi Bank Mobile Apps</a:t>
            </a:r>
          </a:p>
          <a:p>
            <a:pPr algn="l">
              <a:lnSpc>
                <a:spcPts val="3136"/>
              </a:lnSpc>
            </a:pPr>
            <a:r>
              <a:rPr lang="en-US" sz="2240">
                <a:solidFill>
                  <a:srgbClr val="000000"/>
                </a:solidFill>
                <a:latin typeface="Open Sans"/>
                <a:ea typeface="Open Sans"/>
                <a:cs typeface="Open Sans"/>
                <a:sym typeface="Open Sans"/>
              </a:rPr>
              <a:t>        Observations</a:t>
            </a:r>
          </a:p>
          <a:p>
            <a:pPr algn="l" marL="483761" indent="-241881" lvl="1">
              <a:lnSpc>
                <a:spcPts val="3136"/>
              </a:lnSpc>
              <a:buFont typeface="Arial"/>
              <a:buChar char="•"/>
            </a:pPr>
            <a:r>
              <a:rPr lang="en-US" sz="2240">
                <a:solidFill>
                  <a:srgbClr val="000000"/>
                </a:solidFill>
                <a:latin typeface="Open Sans"/>
                <a:ea typeface="Open Sans"/>
                <a:cs typeface="Open Sans"/>
                <a:sym typeface="Open Sans"/>
              </a:rPr>
              <a:t>Dynamic Analysis</a:t>
            </a:r>
          </a:p>
          <a:p>
            <a:pPr algn="l">
              <a:lnSpc>
                <a:spcPts val="3136"/>
              </a:lnSpc>
            </a:pPr>
            <a:r>
              <a:rPr lang="en-US" sz="2240">
                <a:solidFill>
                  <a:srgbClr val="000000"/>
                </a:solidFill>
                <a:latin typeface="Open Sans"/>
                <a:ea typeface="Open Sans"/>
                <a:cs typeface="Open Sans"/>
                <a:sym typeface="Open Sans"/>
              </a:rPr>
              <a:t>        </a:t>
            </a:r>
            <a:r>
              <a:rPr lang="en-US" sz="2240">
                <a:solidFill>
                  <a:srgbClr val="000000"/>
                </a:solidFill>
                <a:latin typeface="Open Sans"/>
                <a:ea typeface="Open Sans"/>
                <a:cs typeface="Open Sans"/>
                <a:sym typeface="Open Sans"/>
              </a:rPr>
              <a:t> Dynamic SSL Testing</a:t>
            </a:r>
          </a:p>
          <a:p>
            <a:pPr algn="l">
              <a:lnSpc>
                <a:spcPts val="3136"/>
              </a:lnSpc>
            </a:pPr>
            <a:r>
              <a:rPr lang="en-US" sz="2240">
                <a:solidFill>
                  <a:srgbClr val="000000"/>
                </a:solidFill>
                <a:latin typeface="Open Sans"/>
                <a:ea typeface="Open Sans"/>
                <a:cs typeface="Open Sans"/>
                <a:sym typeface="Open Sans"/>
              </a:rPr>
              <a:t>         Exported Activity Tester </a:t>
            </a:r>
          </a:p>
          <a:p>
            <a:pPr algn="l">
              <a:lnSpc>
                <a:spcPts val="3136"/>
              </a:lnSpc>
            </a:pPr>
            <a:r>
              <a:rPr lang="en-US" sz="2240">
                <a:solidFill>
                  <a:srgbClr val="000000"/>
                </a:solidFill>
                <a:latin typeface="Open Sans"/>
                <a:ea typeface="Open Sans"/>
                <a:cs typeface="Open Sans"/>
                <a:sym typeface="Open Sans"/>
              </a:rPr>
              <a:t>         Challenges in Dynamic Analysis </a:t>
            </a:r>
          </a:p>
          <a:p>
            <a:pPr algn="l">
              <a:lnSpc>
                <a:spcPts val="3136"/>
              </a:lnSpc>
            </a:pPr>
            <a:r>
              <a:rPr lang="en-US" sz="2240">
                <a:solidFill>
                  <a:srgbClr val="000000"/>
                </a:solidFill>
                <a:latin typeface="Open Sans"/>
                <a:ea typeface="Open Sans"/>
                <a:cs typeface="Open Sans"/>
                <a:sym typeface="Open Sans"/>
              </a:rPr>
              <a:t>         Dynamic Analysis on Custom VM/Rooted Android</a:t>
            </a:r>
          </a:p>
          <a:p>
            <a:pPr algn="l">
              <a:lnSpc>
                <a:spcPts val="3136"/>
              </a:lnSpc>
            </a:pPr>
            <a:r>
              <a:rPr lang="en-US" sz="2240">
                <a:solidFill>
                  <a:srgbClr val="000000"/>
                </a:solidFill>
                <a:latin typeface="Open Sans"/>
                <a:ea typeface="Open Sans"/>
                <a:cs typeface="Open Sans"/>
                <a:sym typeface="Open Sans"/>
              </a:rPr>
              <a:t>         device</a:t>
            </a:r>
          </a:p>
          <a:p>
            <a:pPr algn="l" marL="483761" indent="-241881" lvl="1">
              <a:lnSpc>
                <a:spcPts val="3136"/>
              </a:lnSpc>
              <a:buFont typeface="Arial"/>
              <a:buChar char="•"/>
            </a:pPr>
            <a:r>
              <a:rPr lang="en-US" sz="2240">
                <a:solidFill>
                  <a:srgbClr val="000000"/>
                </a:solidFill>
                <a:latin typeface="Open Sans"/>
                <a:ea typeface="Open Sans"/>
                <a:cs typeface="Open Sans"/>
                <a:sym typeface="Open Sans"/>
              </a:rPr>
              <a:t>Conclusion</a:t>
            </a:r>
          </a:p>
          <a:p>
            <a:pPr algn="l">
              <a:lnSpc>
                <a:spcPts val="3136"/>
              </a:lnSpc>
            </a:pPr>
          </a:p>
        </p:txBody>
      </p:sp>
      <p:sp>
        <p:nvSpPr>
          <p:cNvPr name="TextBox 19" id="19"/>
          <p:cNvSpPr txBox="true"/>
          <p:nvPr/>
        </p:nvSpPr>
        <p:spPr>
          <a:xfrm rot="0">
            <a:off x="1984933" y="1566690"/>
            <a:ext cx="5800306" cy="495300"/>
          </a:xfrm>
          <a:prstGeom prst="rect">
            <a:avLst/>
          </a:prstGeom>
        </p:spPr>
        <p:txBody>
          <a:bodyPr anchor="t" rtlCol="false" tIns="0" lIns="0" bIns="0" rIns="0">
            <a:spAutoFit/>
          </a:bodyPr>
          <a:lstStyle/>
          <a:p>
            <a:pPr algn="ctr">
              <a:lnSpc>
                <a:spcPts val="4199"/>
              </a:lnSpc>
              <a:spcBef>
                <a:spcPct val="0"/>
              </a:spcBef>
            </a:pPr>
            <a:r>
              <a:rPr lang="en-US" sz="2999">
                <a:solidFill>
                  <a:srgbClr val="FFFFFF"/>
                </a:solidFill>
                <a:latin typeface="Open Sans"/>
                <a:ea typeface="Open Sans"/>
                <a:cs typeface="Open Sans"/>
                <a:sym typeface="Open Sans"/>
              </a:rPr>
              <a:t>Agenda</a:t>
            </a:r>
          </a:p>
        </p:txBody>
      </p:sp>
      <p:sp>
        <p:nvSpPr>
          <p:cNvPr name="Freeform 20" id="20"/>
          <p:cNvSpPr/>
          <p:nvPr/>
        </p:nvSpPr>
        <p:spPr>
          <a:xfrm flipH="false" flipV="false" rot="0">
            <a:off x="14779698" y="8783516"/>
            <a:ext cx="376666" cy="446131"/>
          </a:xfrm>
          <a:custGeom>
            <a:avLst/>
            <a:gdLst/>
            <a:ahLst/>
            <a:cxnLst/>
            <a:rect r="r" b="b" t="t" l="l"/>
            <a:pathLst>
              <a:path h="446131" w="376666">
                <a:moveTo>
                  <a:pt x="0" y="0"/>
                </a:moveTo>
                <a:lnTo>
                  <a:pt x="376666" y="0"/>
                </a:lnTo>
                <a:lnTo>
                  <a:pt x="376666" y="446131"/>
                </a:lnTo>
                <a:lnTo>
                  <a:pt x="0" y="44613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1" id="21"/>
          <p:cNvSpPr txBox="true"/>
          <p:nvPr/>
        </p:nvSpPr>
        <p:spPr>
          <a:xfrm rot="0">
            <a:off x="15156364" y="8860214"/>
            <a:ext cx="2358460" cy="264160"/>
          </a:xfrm>
          <a:prstGeom prst="rect">
            <a:avLst/>
          </a:prstGeom>
        </p:spPr>
        <p:txBody>
          <a:bodyPr anchor="t" rtlCol="false" tIns="0" lIns="0" bIns="0" rIns="0">
            <a:spAutoFit/>
          </a:bodyPr>
          <a:lstStyle/>
          <a:p>
            <a:pPr algn="r">
              <a:lnSpc>
                <a:spcPts val="2239"/>
              </a:lnSpc>
              <a:spcBef>
                <a:spcPct val="0"/>
              </a:spcBef>
            </a:pPr>
            <a:r>
              <a:rPr lang="en-US" b="true" sz="1599">
                <a:solidFill>
                  <a:srgbClr val="FFFFFF"/>
                </a:solidFill>
                <a:latin typeface="Open Sans Bold"/>
                <a:ea typeface="Open Sans Bold"/>
                <a:cs typeface="Open Sans Bold"/>
                <a:sym typeface="Open Sans Bold"/>
              </a:rPr>
              <a:t>GHOST_DEVELOPERS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0429875" y="1028700"/>
            <a:ext cx="6829425" cy="6848324"/>
            <a:chOff x="0" y="0"/>
            <a:chExt cx="1798696" cy="1803674"/>
          </a:xfrm>
        </p:grpSpPr>
        <p:sp>
          <p:nvSpPr>
            <p:cNvPr name="Freeform 3" id="3"/>
            <p:cNvSpPr/>
            <p:nvPr/>
          </p:nvSpPr>
          <p:spPr>
            <a:xfrm flipH="false" flipV="false" rot="0">
              <a:off x="0" y="0"/>
              <a:ext cx="1798696" cy="1803674"/>
            </a:xfrm>
            <a:custGeom>
              <a:avLst/>
              <a:gdLst/>
              <a:ahLst/>
              <a:cxnLst/>
              <a:rect r="r" b="b" t="t" l="l"/>
              <a:pathLst>
                <a:path h="1803674" w="1798696">
                  <a:moveTo>
                    <a:pt x="22672" y="0"/>
                  </a:moveTo>
                  <a:lnTo>
                    <a:pt x="1776024" y="0"/>
                  </a:lnTo>
                  <a:cubicBezTo>
                    <a:pt x="1788545" y="0"/>
                    <a:pt x="1798696" y="10151"/>
                    <a:pt x="1798696" y="22672"/>
                  </a:cubicBezTo>
                  <a:lnTo>
                    <a:pt x="1798696" y="1781002"/>
                  </a:lnTo>
                  <a:cubicBezTo>
                    <a:pt x="1798696" y="1787015"/>
                    <a:pt x="1796308" y="1792781"/>
                    <a:pt x="1792056" y="1797033"/>
                  </a:cubicBezTo>
                  <a:cubicBezTo>
                    <a:pt x="1787804" y="1801285"/>
                    <a:pt x="1782037" y="1803674"/>
                    <a:pt x="1776024" y="1803674"/>
                  </a:cubicBezTo>
                  <a:lnTo>
                    <a:pt x="22672" y="1803674"/>
                  </a:lnTo>
                  <a:cubicBezTo>
                    <a:pt x="10151" y="1803674"/>
                    <a:pt x="0" y="1793523"/>
                    <a:pt x="0" y="1781002"/>
                  </a:cubicBezTo>
                  <a:lnTo>
                    <a:pt x="0" y="22672"/>
                  </a:lnTo>
                  <a:cubicBezTo>
                    <a:pt x="0" y="10151"/>
                    <a:pt x="10151" y="0"/>
                    <a:pt x="22672" y="0"/>
                  </a:cubicBezTo>
                  <a:close/>
                </a:path>
              </a:pathLst>
            </a:custGeom>
            <a:solidFill>
              <a:srgbClr val="40DDDF"/>
            </a:solidFill>
            <a:ln w="19050" cap="sq">
              <a:solidFill>
                <a:srgbClr val="40DDDF"/>
              </a:solidFill>
              <a:prstDash val="solid"/>
              <a:miter/>
            </a:ln>
          </p:spPr>
        </p:sp>
        <p:sp>
          <p:nvSpPr>
            <p:cNvPr name="TextBox 4" id="4"/>
            <p:cNvSpPr txBox="true"/>
            <p:nvPr/>
          </p:nvSpPr>
          <p:spPr>
            <a:xfrm>
              <a:off x="0" y="-38100"/>
              <a:ext cx="1798696" cy="1841774"/>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11010094" y="1698897"/>
            <a:ext cx="5678512" cy="5507929"/>
            <a:chOff x="0" y="0"/>
            <a:chExt cx="879750" cy="853322"/>
          </a:xfrm>
        </p:grpSpPr>
        <p:sp>
          <p:nvSpPr>
            <p:cNvPr name="Freeform 6" id="6"/>
            <p:cNvSpPr/>
            <p:nvPr/>
          </p:nvSpPr>
          <p:spPr>
            <a:xfrm flipH="false" flipV="false" rot="0">
              <a:off x="0" y="0"/>
              <a:ext cx="879750" cy="853322"/>
            </a:xfrm>
            <a:custGeom>
              <a:avLst/>
              <a:gdLst/>
              <a:ahLst/>
              <a:cxnLst/>
              <a:rect r="r" b="b" t="t" l="l"/>
              <a:pathLst>
                <a:path h="853322" w="879750">
                  <a:moveTo>
                    <a:pt x="27267" y="0"/>
                  </a:moveTo>
                  <a:lnTo>
                    <a:pt x="852483" y="0"/>
                  </a:lnTo>
                  <a:cubicBezTo>
                    <a:pt x="867542" y="0"/>
                    <a:pt x="879750" y="12208"/>
                    <a:pt x="879750" y="27267"/>
                  </a:cubicBezTo>
                  <a:lnTo>
                    <a:pt x="879750" y="826055"/>
                  </a:lnTo>
                  <a:cubicBezTo>
                    <a:pt x="879750" y="841114"/>
                    <a:pt x="867542" y="853322"/>
                    <a:pt x="852483" y="853322"/>
                  </a:cubicBezTo>
                  <a:lnTo>
                    <a:pt x="27267" y="853322"/>
                  </a:lnTo>
                  <a:cubicBezTo>
                    <a:pt x="12208" y="853322"/>
                    <a:pt x="0" y="841114"/>
                    <a:pt x="0" y="826055"/>
                  </a:cubicBezTo>
                  <a:lnTo>
                    <a:pt x="0" y="27267"/>
                  </a:lnTo>
                  <a:cubicBezTo>
                    <a:pt x="0" y="12208"/>
                    <a:pt x="12208" y="0"/>
                    <a:pt x="27267" y="0"/>
                  </a:cubicBezTo>
                  <a:close/>
                </a:path>
              </a:pathLst>
            </a:custGeom>
            <a:blipFill>
              <a:blip r:embed="rId2"/>
              <a:stretch>
                <a:fillRect l="-22792" t="0" r="-22792" b="0"/>
              </a:stretch>
            </a:blipFill>
          </p:spPr>
        </p:sp>
      </p:grpSp>
      <p:grpSp>
        <p:nvGrpSpPr>
          <p:cNvPr name="Group 7" id="7"/>
          <p:cNvGrpSpPr/>
          <p:nvPr/>
        </p:nvGrpSpPr>
        <p:grpSpPr>
          <a:xfrm rot="-5400000">
            <a:off x="13145370" y="3668353"/>
            <a:ext cx="1398435" cy="5678512"/>
            <a:chOff x="0" y="0"/>
            <a:chExt cx="368312" cy="1495575"/>
          </a:xfrm>
        </p:grpSpPr>
        <p:sp>
          <p:nvSpPr>
            <p:cNvPr name="Freeform 8" id="8"/>
            <p:cNvSpPr/>
            <p:nvPr/>
          </p:nvSpPr>
          <p:spPr>
            <a:xfrm flipH="false" flipV="false" rot="0">
              <a:off x="0" y="0"/>
              <a:ext cx="368312" cy="1495575"/>
            </a:xfrm>
            <a:custGeom>
              <a:avLst/>
              <a:gdLst/>
              <a:ahLst/>
              <a:cxnLst/>
              <a:rect r="r" b="b" t="t" l="l"/>
              <a:pathLst>
                <a:path h="1495575" w="368312">
                  <a:moveTo>
                    <a:pt x="110723" y="0"/>
                  </a:moveTo>
                  <a:lnTo>
                    <a:pt x="257589" y="0"/>
                  </a:lnTo>
                  <a:cubicBezTo>
                    <a:pt x="286955" y="0"/>
                    <a:pt x="315118" y="11665"/>
                    <a:pt x="335882" y="32430"/>
                  </a:cubicBezTo>
                  <a:cubicBezTo>
                    <a:pt x="356647" y="53194"/>
                    <a:pt x="368312" y="81357"/>
                    <a:pt x="368312" y="110723"/>
                  </a:cubicBezTo>
                  <a:lnTo>
                    <a:pt x="368312" y="1384852"/>
                  </a:lnTo>
                  <a:cubicBezTo>
                    <a:pt x="368312" y="1446003"/>
                    <a:pt x="318740" y="1495575"/>
                    <a:pt x="257589" y="1495575"/>
                  </a:cubicBezTo>
                  <a:lnTo>
                    <a:pt x="110723" y="1495575"/>
                  </a:lnTo>
                  <a:cubicBezTo>
                    <a:pt x="81357" y="1495575"/>
                    <a:pt x="53194" y="1483910"/>
                    <a:pt x="32430" y="1463145"/>
                  </a:cubicBezTo>
                  <a:cubicBezTo>
                    <a:pt x="11665" y="1442381"/>
                    <a:pt x="0" y="1414218"/>
                    <a:pt x="0" y="1384852"/>
                  </a:cubicBezTo>
                  <a:lnTo>
                    <a:pt x="0" y="110723"/>
                  </a:lnTo>
                  <a:cubicBezTo>
                    <a:pt x="0" y="49572"/>
                    <a:pt x="49572" y="0"/>
                    <a:pt x="110723" y="0"/>
                  </a:cubicBezTo>
                  <a:close/>
                </a:path>
              </a:pathLst>
            </a:custGeom>
            <a:gradFill rotWithShape="true">
              <a:gsLst>
                <a:gs pos="0">
                  <a:srgbClr val="000000">
                    <a:alpha val="100000"/>
                  </a:srgbClr>
                </a:gs>
                <a:gs pos="100000">
                  <a:srgbClr val="000000">
                    <a:alpha val="0"/>
                  </a:srgbClr>
                </a:gs>
              </a:gsLst>
              <a:lin ang="0"/>
            </a:gradFill>
          </p:spPr>
        </p:sp>
        <p:sp>
          <p:nvSpPr>
            <p:cNvPr name="TextBox 9" id="9"/>
            <p:cNvSpPr txBox="true"/>
            <p:nvPr/>
          </p:nvSpPr>
          <p:spPr>
            <a:xfrm>
              <a:off x="0" y="-38100"/>
              <a:ext cx="368312" cy="1533675"/>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5400000">
            <a:off x="4200379" y="5611838"/>
            <a:ext cx="1503484" cy="7846841"/>
            <a:chOff x="0" y="0"/>
            <a:chExt cx="395979" cy="2066658"/>
          </a:xfrm>
        </p:grpSpPr>
        <p:sp>
          <p:nvSpPr>
            <p:cNvPr name="Freeform 11" id="11"/>
            <p:cNvSpPr/>
            <p:nvPr/>
          </p:nvSpPr>
          <p:spPr>
            <a:xfrm flipH="false" flipV="false" rot="0">
              <a:off x="0" y="0"/>
              <a:ext cx="395979" cy="2066658"/>
            </a:xfrm>
            <a:custGeom>
              <a:avLst/>
              <a:gdLst/>
              <a:ahLst/>
              <a:cxnLst/>
              <a:rect r="r" b="b" t="t" l="l"/>
              <a:pathLst>
                <a:path h="2066658" w="395979">
                  <a:moveTo>
                    <a:pt x="0" y="0"/>
                  </a:moveTo>
                  <a:lnTo>
                    <a:pt x="395979" y="0"/>
                  </a:lnTo>
                  <a:lnTo>
                    <a:pt x="395979" y="2066658"/>
                  </a:lnTo>
                  <a:lnTo>
                    <a:pt x="0" y="2066658"/>
                  </a:lnTo>
                  <a:close/>
                </a:path>
              </a:pathLst>
            </a:custGeom>
            <a:gradFill rotWithShape="true">
              <a:gsLst>
                <a:gs pos="0">
                  <a:srgbClr val="40DDDF">
                    <a:alpha val="100000"/>
                  </a:srgbClr>
                </a:gs>
                <a:gs pos="100000">
                  <a:srgbClr val="000000">
                    <a:alpha val="0"/>
                  </a:srgbClr>
                </a:gs>
              </a:gsLst>
              <a:lin ang="0"/>
            </a:gradFill>
          </p:spPr>
        </p:sp>
        <p:sp>
          <p:nvSpPr>
            <p:cNvPr name="TextBox 12" id="12"/>
            <p:cNvSpPr txBox="true"/>
            <p:nvPr/>
          </p:nvSpPr>
          <p:spPr>
            <a:xfrm>
              <a:off x="0" y="-38100"/>
              <a:ext cx="395979" cy="2104758"/>
            </a:xfrm>
            <a:prstGeom prst="rect">
              <a:avLst/>
            </a:prstGeom>
          </p:spPr>
          <p:txBody>
            <a:bodyPr anchor="ctr" rtlCol="false" tIns="50800" lIns="50800" bIns="50800" rIns="50800"/>
            <a:lstStyle/>
            <a:p>
              <a:pPr algn="ctr">
                <a:lnSpc>
                  <a:spcPts val="2659"/>
                </a:lnSpc>
                <a:spcBef>
                  <a:spcPct val="0"/>
                </a:spcBef>
              </a:pPr>
            </a:p>
          </p:txBody>
        </p:sp>
      </p:grpSp>
      <p:grpSp>
        <p:nvGrpSpPr>
          <p:cNvPr name="Group 13" id="13"/>
          <p:cNvGrpSpPr/>
          <p:nvPr/>
        </p:nvGrpSpPr>
        <p:grpSpPr>
          <a:xfrm rot="0">
            <a:off x="1028700" y="4616881"/>
            <a:ext cx="7846841" cy="4641419"/>
            <a:chOff x="0" y="0"/>
            <a:chExt cx="2066658" cy="1222431"/>
          </a:xfrm>
        </p:grpSpPr>
        <p:sp>
          <p:nvSpPr>
            <p:cNvPr name="Freeform 14" id="14"/>
            <p:cNvSpPr/>
            <p:nvPr/>
          </p:nvSpPr>
          <p:spPr>
            <a:xfrm flipH="false" flipV="false" rot="0">
              <a:off x="0" y="0"/>
              <a:ext cx="2066658" cy="1222431"/>
            </a:xfrm>
            <a:custGeom>
              <a:avLst/>
              <a:gdLst/>
              <a:ahLst/>
              <a:cxnLst/>
              <a:rect r="r" b="b" t="t" l="l"/>
              <a:pathLst>
                <a:path h="1222431" w="2066658">
                  <a:moveTo>
                    <a:pt x="19733" y="0"/>
                  </a:moveTo>
                  <a:lnTo>
                    <a:pt x="2046925" y="0"/>
                  </a:lnTo>
                  <a:cubicBezTo>
                    <a:pt x="2057823" y="0"/>
                    <a:pt x="2066658" y="8835"/>
                    <a:pt x="2066658" y="19733"/>
                  </a:cubicBezTo>
                  <a:lnTo>
                    <a:pt x="2066658" y="1202699"/>
                  </a:lnTo>
                  <a:cubicBezTo>
                    <a:pt x="2066658" y="1207932"/>
                    <a:pt x="2064579" y="1212951"/>
                    <a:pt x="2060878" y="1216652"/>
                  </a:cubicBezTo>
                  <a:cubicBezTo>
                    <a:pt x="2057178" y="1220352"/>
                    <a:pt x="2052158" y="1222431"/>
                    <a:pt x="2046925" y="1222431"/>
                  </a:cubicBezTo>
                  <a:lnTo>
                    <a:pt x="19733" y="1222431"/>
                  </a:lnTo>
                  <a:cubicBezTo>
                    <a:pt x="8835" y="1222431"/>
                    <a:pt x="0" y="1213597"/>
                    <a:pt x="0" y="1202699"/>
                  </a:cubicBezTo>
                  <a:lnTo>
                    <a:pt x="0" y="19733"/>
                  </a:lnTo>
                  <a:cubicBezTo>
                    <a:pt x="0" y="8835"/>
                    <a:pt x="8835" y="0"/>
                    <a:pt x="19733" y="0"/>
                  </a:cubicBezTo>
                  <a:close/>
                </a:path>
              </a:pathLst>
            </a:custGeom>
            <a:solidFill>
              <a:srgbClr val="000000"/>
            </a:solidFill>
            <a:ln w="19050" cap="sq">
              <a:solidFill>
                <a:srgbClr val="40DDDF"/>
              </a:solidFill>
              <a:prstDash val="solid"/>
              <a:miter/>
            </a:ln>
          </p:spPr>
        </p:sp>
        <p:sp>
          <p:nvSpPr>
            <p:cNvPr name="TextBox 15" id="15"/>
            <p:cNvSpPr txBox="true"/>
            <p:nvPr/>
          </p:nvSpPr>
          <p:spPr>
            <a:xfrm>
              <a:off x="0" y="-38100"/>
              <a:ext cx="2066658" cy="1260531"/>
            </a:xfrm>
            <a:prstGeom prst="rect">
              <a:avLst/>
            </a:prstGeom>
          </p:spPr>
          <p:txBody>
            <a:bodyPr anchor="ctr" rtlCol="false" tIns="50800" lIns="50800" bIns="50800" rIns="50800"/>
            <a:lstStyle/>
            <a:p>
              <a:pPr algn="ctr">
                <a:lnSpc>
                  <a:spcPts val="3359"/>
                </a:lnSpc>
              </a:pPr>
            </a:p>
          </p:txBody>
        </p:sp>
      </p:grpSp>
      <p:sp>
        <p:nvSpPr>
          <p:cNvPr name="TextBox 16" id="16"/>
          <p:cNvSpPr txBox="true"/>
          <p:nvPr/>
        </p:nvSpPr>
        <p:spPr>
          <a:xfrm rot="0">
            <a:off x="1009650" y="1127437"/>
            <a:ext cx="8758118" cy="2670294"/>
          </a:xfrm>
          <a:prstGeom prst="rect">
            <a:avLst/>
          </a:prstGeom>
        </p:spPr>
        <p:txBody>
          <a:bodyPr anchor="t" rtlCol="false" tIns="0" lIns="0" bIns="0" rIns="0">
            <a:spAutoFit/>
          </a:bodyPr>
          <a:lstStyle/>
          <a:p>
            <a:pPr algn="l">
              <a:lnSpc>
                <a:spcPts val="10368"/>
              </a:lnSpc>
            </a:pPr>
            <a:r>
              <a:rPr lang="en-US" sz="10368">
                <a:solidFill>
                  <a:srgbClr val="40DDDF"/>
                </a:solidFill>
                <a:latin typeface="Montserrat"/>
                <a:ea typeface="Montserrat"/>
                <a:cs typeface="Montserrat"/>
                <a:sym typeface="Montserrat"/>
              </a:rPr>
              <a:t>WHAT IS MOBSF?</a:t>
            </a:r>
          </a:p>
        </p:txBody>
      </p:sp>
      <p:sp>
        <p:nvSpPr>
          <p:cNvPr name="Freeform 17" id="17"/>
          <p:cNvSpPr/>
          <p:nvPr/>
        </p:nvSpPr>
        <p:spPr>
          <a:xfrm flipH="false" flipV="false" rot="0">
            <a:off x="8234383" y="3040864"/>
            <a:ext cx="641157" cy="641157"/>
          </a:xfrm>
          <a:custGeom>
            <a:avLst/>
            <a:gdLst/>
            <a:ahLst/>
            <a:cxnLst/>
            <a:rect r="r" b="b" t="t" l="l"/>
            <a:pathLst>
              <a:path h="641157" w="641157">
                <a:moveTo>
                  <a:pt x="0" y="0"/>
                </a:moveTo>
                <a:lnTo>
                  <a:pt x="641158" y="0"/>
                </a:lnTo>
                <a:lnTo>
                  <a:pt x="641158" y="641158"/>
                </a:lnTo>
                <a:lnTo>
                  <a:pt x="0" y="6411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8" id="18"/>
          <p:cNvSpPr txBox="true"/>
          <p:nvPr/>
        </p:nvSpPr>
        <p:spPr>
          <a:xfrm rot="0">
            <a:off x="1398448" y="5071792"/>
            <a:ext cx="7156514" cy="3311013"/>
          </a:xfrm>
          <a:prstGeom prst="rect">
            <a:avLst/>
          </a:prstGeom>
        </p:spPr>
        <p:txBody>
          <a:bodyPr anchor="t" rtlCol="false" tIns="0" lIns="0" bIns="0" rIns="0">
            <a:spAutoFit/>
          </a:bodyPr>
          <a:lstStyle/>
          <a:p>
            <a:pPr algn="l">
              <a:lnSpc>
                <a:spcPts val="3770"/>
              </a:lnSpc>
              <a:spcBef>
                <a:spcPct val="0"/>
              </a:spcBef>
            </a:pPr>
            <a:r>
              <a:rPr lang="en-US" b="true" sz="2693">
                <a:solidFill>
                  <a:srgbClr val="FFFFFF"/>
                </a:solidFill>
                <a:latin typeface="Open Sans Bold"/>
                <a:ea typeface="Open Sans Bold"/>
                <a:cs typeface="Open Sans Bold"/>
                <a:sym typeface="Open Sans Bold"/>
              </a:rPr>
              <a:t>Mobile Security Framework is an open source mobile application (Android/OS) automated pentesting framework capable of performing end to end security testing of mobile Apps. Hosted in your environment. Your application and data is never send to the cloud.</a:t>
            </a:r>
          </a:p>
        </p:txBody>
      </p:sp>
      <p:sp>
        <p:nvSpPr>
          <p:cNvPr name="Freeform 19" id="19"/>
          <p:cNvSpPr/>
          <p:nvPr/>
        </p:nvSpPr>
        <p:spPr>
          <a:xfrm flipH="false" flipV="false" rot="0">
            <a:off x="14779698" y="8783516"/>
            <a:ext cx="376666" cy="446131"/>
          </a:xfrm>
          <a:custGeom>
            <a:avLst/>
            <a:gdLst/>
            <a:ahLst/>
            <a:cxnLst/>
            <a:rect r="r" b="b" t="t" l="l"/>
            <a:pathLst>
              <a:path h="446131" w="376666">
                <a:moveTo>
                  <a:pt x="0" y="0"/>
                </a:moveTo>
                <a:lnTo>
                  <a:pt x="376666" y="0"/>
                </a:lnTo>
                <a:lnTo>
                  <a:pt x="376666" y="446131"/>
                </a:lnTo>
                <a:lnTo>
                  <a:pt x="0" y="44613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0" id="20"/>
          <p:cNvSpPr txBox="true"/>
          <p:nvPr/>
        </p:nvSpPr>
        <p:spPr>
          <a:xfrm rot="0">
            <a:off x="15156364" y="8860214"/>
            <a:ext cx="2358460" cy="264160"/>
          </a:xfrm>
          <a:prstGeom prst="rect">
            <a:avLst/>
          </a:prstGeom>
        </p:spPr>
        <p:txBody>
          <a:bodyPr anchor="t" rtlCol="false" tIns="0" lIns="0" bIns="0" rIns="0">
            <a:spAutoFit/>
          </a:bodyPr>
          <a:lstStyle/>
          <a:p>
            <a:pPr algn="r">
              <a:lnSpc>
                <a:spcPts val="2239"/>
              </a:lnSpc>
              <a:spcBef>
                <a:spcPct val="0"/>
              </a:spcBef>
            </a:pPr>
            <a:r>
              <a:rPr lang="en-US" b="true" sz="1599">
                <a:solidFill>
                  <a:srgbClr val="FFFFFF"/>
                </a:solidFill>
                <a:latin typeface="Open Sans Bold"/>
                <a:ea typeface="Open Sans Bold"/>
                <a:cs typeface="Open Sans Bold"/>
                <a:sym typeface="Open Sans Bold"/>
              </a:rPr>
              <a:t>GHOST_DEVELOPERS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6929196" y="8888789"/>
            <a:ext cx="641157" cy="641157"/>
          </a:xfrm>
          <a:custGeom>
            <a:avLst/>
            <a:gdLst/>
            <a:ahLst/>
            <a:cxnLst/>
            <a:rect r="r" b="b" t="t" l="l"/>
            <a:pathLst>
              <a:path h="641157" w="641157">
                <a:moveTo>
                  <a:pt x="0" y="0"/>
                </a:moveTo>
                <a:lnTo>
                  <a:pt x="641158" y="0"/>
                </a:lnTo>
                <a:lnTo>
                  <a:pt x="641158" y="641158"/>
                </a:lnTo>
                <a:lnTo>
                  <a:pt x="0" y="6411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5400000">
            <a:off x="8625107" y="-8625107"/>
            <a:ext cx="1028700" cy="18278914"/>
            <a:chOff x="0" y="0"/>
            <a:chExt cx="270933" cy="4814199"/>
          </a:xfrm>
        </p:grpSpPr>
        <p:sp>
          <p:nvSpPr>
            <p:cNvPr name="Freeform 4" id="4"/>
            <p:cNvSpPr/>
            <p:nvPr/>
          </p:nvSpPr>
          <p:spPr>
            <a:xfrm flipH="false" flipV="false" rot="0">
              <a:off x="0" y="0"/>
              <a:ext cx="270933" cy="4814200"/>
            </a:xfrm>
            <a:custGeom>
              <a:avLst/>
              <a:gdLst/>
              <a:ahLst/>
              <a:cxnLst/>
              <a:rect r="r" b="b" t="t" l="l"/>
              <a:pathLst>
                <a:path h="4814200" w="270933">
                  <a:moveTo>
                    <a:pt x="0" y="0"/>
                  </a:moveTo>
                  <a:lnTo>
                    <a:pt x="270933" y="0"/>
                  </a:lnTo>
                  <a:lnTo>
                    <a:pt x="270933" y="4814200"/>
                  </a:lnTo>
                  <a:lnTo>
                    <a:pt x="0" y="4814200"/>
                  </a:lnTo>
                  <a:close/>
                </a:path>
              </a:pathLst>
            </a:custGeom>
            <a:gradFill rotWithShape="true">
              <a:gsLst>
                <a:gs pos="0">
                  <a:srgbClr val="40DDDF">
                    <a:alpha val="100000"/>
                  </a:srgbClr>
                </a:gs>
                <a:gs pos="100000">
                  <a:srgbClr val="000000">
                    <a:alpha val="0"/>
                  </a:srgbClr>
                </a:gs>
              </a:gsLst>
              <a:lin ang="0"/>
            </a:gradFill>
          </p:spPr>
        </p:sp>
        <p:sp>
          <p:nvSpPr>
            <p:cNvPr name="TextBox 5" id="5"/>
            <p:cNvSpPr txBox="true"/>
            <p:nvPr/>
          </p:nvSpPr>
          <p:spPr>
            <a:xfrm>
              <a:off x="0" y="-38100"/>
              <a:ext cx="270933" cy="4852299"/>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028700" y="8783516"/>
            <a:ext cx="376666" cy="446131"/>
          </a:xfrm>
          <a:custGeom>
            <a:avLst/>
            <a:gdLst/>
            <a:ahLst/>
            <a:cxnLst/>
            <a:rect r="r" b="b" t="t" l="l"/>
            <a:pathLst>
              <a:path h="446131" w="376666">
                <a:moveTo>
                  <a:pt x="0" y="0"/>
                </a:moveTo>
                <a:lnTo>
                  <a:pt x="376666" y="0"/>
                </a:lnTo>
                <a:lnTo>
                  <a:pt x="376666" y="446131"/>
                </a:lnTo>
                <a:lnTo>
                  <a:pt x="0" y="4461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405366" y="1313369"/>
            <a:ext cx="11180979" cy="747845"/>
          </a:xfrm>
          <a:prstGeom prst="rect">
            <a:avLst/>
          </a:prstGeom>
        </p:spPr>
        <p:txBody>
          <a:bodyPr anchor="t" rtlCol="false" tIns="0" lIns="0" bIns="0" rIns="0">
            <a:spAutoFit/>
          </a:bodyPr>
          <a:lstStyle/>
          <a:p>
            <a:pPr algn="l">
              <a:lnSpc>
                <a:spcPts val="5561"/>
              </a:lnSpc>
            </a:pPr>
            <a:r>
              <a:rPr lang="en-US" sz="5561">
                <a:solidFill>
                  <a:srgbClr val="40DDDF"/>
                </a:solidFill>
                <a:latin typeface="Montserrat"/>
                <a:ea typeface="Montserrat"/>
                <a:cs typeface="Montserrat"/>
                <a:sym typeface="Montserrat"/>
              </a:rPr>
              <a:t>INSTALLATION METHOD</a:t>
            </a:r>
          </a:p>
        </p:txBody>
      </p:sp>
      <p:sp>
        <p:nvSpPr>
          <p:cNvPr name="TextBox 8" id="8"/>
          <p:cNvSpPr txBox="true"/>
          <p:nvPr/>
        </p:nvSpPr>
        <p:spPr>
          <a:xfrm rot="0">
            <a:off x="1405366" y="8860214"/>
            <a:ext cx="2358460" cy="264160"/>
          </a:xfrm>
          <a:prstGeom prst="rect">
            <a:avLst/>
          </a:prstGeom>
        </p:spPr>
        <p:txBody>
          <a:bodyPr anchor="t" rtlCol="false" tIns="0" lIns="0" bIns="0" rIns="0">
            <a:spAutoFit/>
          </a:bodyPr>
          <a:lstStyle/>
          <a:p>
            <a:pPr algn="r">
              <a:lnSpc>
                <a:spcPts val="2239"/>
              </a:lnSpc>
              <a:spcBef>
                <a:spcPct val="0"/>
              </a:spcBef>
            </a:pPr>
            <a:r>
              <a:rPr lang="en-US" b="true" sz="1599">
                <a:solidFill>
                  <a:srgbClr val="FFFFFF"/>
                </a:solidFill>
                <a:latin typeface="Open Sans Bold"/>
                <a:ea typeface="Open Sans Bold"/>
                <a:cs typeface="Open Sans Bold"/>
                <a:sym typeface="Open Sans Bold"/>
              </a:rPr>
              <a:t>GHOST_DEVELOPERS</a:t>
            </a:r>
          </a:p>
        </p:txBody>
      </p:sp>
      <p:sp>
        <p:nvSpPr>
          <p:cNvPr name="TextBox 9" id="9"/>
          <p:cNvSpPr txBox="true"/>
          <p:nvPr/>
        </p:nvSpPr>
        <p:spPr>
          <a:xfrm rot="0">
            <a:off x="1405366" y="2983402"/>
            <a:ext cx="13166757" cy="4830786"/>
          </a:xfrm>
          <a:prstGeom prst="rect">
            <a:avLst/>
          </a:prstGeom>
        </p:spPr>
        <p:txBody>
          <a:bodyPr anchor="t" rtlCol="false" tIns="0" lIns="0" bIns="0" rIns="0">
            <a:spAutoFit/>
          </a:bodyPr>
          <a:lstStyle/>
          <a:p>
            <a:pPr algn="l" marL="592296" indent="-296148" lvl="1">
              <a:lnSpc>
                <a:spcPts val="3840"/>
              </a:lnSpc>
              <a:buFont typeface="Arial"/>
              <a:buChar char="•"/>
            </a:pPr>
            <a:r>
              <a:rPr lang="en-US" b="true" sz="2743">
                <a:solidFill>
                  <a:srgbClr val="FFFFFF"/>
                </a:solidFill>
                <a:latin typeface="Canva Sans Bold"/>
                <a:ea typeface="Canva Sans Bold"/>
                <a:cs typeface="Canva Sans Bold"/>
                <a:sym typeface="Canva Sans Bold"/>
              </a:rPr>
              <a:t>Inst</a:t>
            </a:r>
            <a:r>
              <a:rPr lang="en-US" b="true" sz="2743">
                <a:solidFill>
                  <a:srgbClr val="FFFFFF"/>
                </a:solidFill>
                <a:latin typeface="Canva Sans Bold"/>
                <a:ea typeface="Canva Sans Bold"/>
                <a:cs typeface="Canva Sans Bold"/>
                <a:sym typeface="Canva Sans Bold"/>
              </a:rPr>
              <a:t>all Docker</a:t>
            </a:r>
          </a:p>
          <a:p>
            <a:pPr algn="l">
              <a:lnSpc>
                <a:spcPts val="3840"/>
              </a:lnSpc>
            </a:pPr>
          </a:p>
          <a:p>
            <a:pPr algn="l" marL="592296" indent="-296148" lvl="1">
              <a:lnSpc>
                <a:spcPts val="3840"/>
              </a:lnSpc>
              <a:buFont typeface="Arial"/>
              <a:buChar char="•"/>
            </a:pPr>
            <a:r>
              <a:rPr lang="en-US" b="true" sz="2743">
                <a:solidFill>
                  <a:srgbClr val="FFFFFF"/>
                </a:solidFill>
                <a:latin typeface="Canva Sans Bold"/>
                <a:ea typeface="Canva Sans Bold"/>
                <a:cs typeface="Canva Sans Bold"/>
                <a:sym typeface="Canva Sans Bold"/>
              </a:rPr>
              <a:t>Pull the Image:</a:t>
            </a:r>
            <a:r>
              <a:rPr lang="en-US" sz="2743">
                <a:solidFill>
                  <a:srgbClr val="FFFFFF"/>
                </a:solidFill>
                <a:latin typeface="Canva Sans"/>
                <a:ea typeface="Canva Sans"/>
                <a:cs typeface="Canva Sans"/>
                <a:sym typeface="Canva Sans"/>
              </a:rPr>
              <a:t> Open your terminal or command prompt and run (docker pull opensecurity/mobile-security-framework-mobsf:latest)</a:t>
            </a:r>
          </a:p>
          <a:p>
            <a:pPr algn="l">
              <a:lnSpc>
                <a:spcPts val="3840"/>
              </a:lnSpc>
            </a:pPr>
          </a:p>
          <a:p>
            <a:pPr algn="l" marL="592296" indent="-296148" lvl="1">
              <a:lnSpc>
                <a:spcPts val="3840"/>
              </a:lnSpc>
              <a:buFont typeface="Arial"/>
              <a:buChar char="•"/>
            </a:pPr>
            <a:r>
              <a:rPr lang="en-US" b="true" sz="2743">
                <a:solidFill>
                  <a:srgbClr val="FFFFFF"/>
                </a:solidFill>
                <a:latin typeface="Canva Sans Bold"/>
                <a:ea typeface="Canva Sans Bold"/>
                <a:cs typeface="Canva Sans Bold"/>
                <a:sym typeface="Canva Sans Bold"/>
              </a:rPr>
              <a:t>Run MobSF: </a:t>
            </a:r>
            <a:r>
              <a:rPr lang="en-US" sz="2743">
                <a:solidFill>
                  <a:srgbClr val="FFFFFF"/>
                </a:solidFill>
                <a:latin typeface="Canva Sans"/>
                <a:ea typeface="Canva Sans"/>
                <a:cs typeface="Canva Sans"/>
                <a:sym typeface="Canva Sans"/>
              </a:rPr>
              <a:t>Execute the following command to start the container (docker run -it --rm -p 8000:8000 opensecurity/mobile-security-framework-mobsf:latest)</a:t>
            </a:r>
          </a:p>
          <a:p>
            <a:pPr algn="l">
              <a:lnSpc>
                <a:spcPts val="3840"/>
              </a:lnSpc>
            </a:pPr>
          </a:p>
          <a:p>
            <a:pPr algn="l" marL="592296" indent="-296148" lvl="1">
              <a:lnSpc>
                <a:spcPts val="3840"/>
              </a:lnSpc>
              <a:buFont typeface="Arial"/>
              <a:buChar char="•"/>
            </a:pPr>
            <a:r>
              <a:rPr lang="en-US" b="true" sz="2743">
                <a:solidFill>
                  <a:srgbClr val="FFFFFF"/>
                </a:solidFill>
                <a:latin typeface="Canva Sans Bold"/>
                <a:ea typeface="Canva Sans Bold"/>
                <a:cs typeface="Canva Sans Bold"/>
                <a:sym typeface="Canva Sans Bold"/>
              </a:rPr>
              <a:t>Access: </a:t>
            </a:r>
            <a:r>
              <a:rPr lang="en-US" sz="2743">
                <a:solidFill>
                  <a:srgbClr val="FFFFFF"/>
                </a:solidFill>
                <a:latin typeface="Canva Sans"/>
                <a:ea typeface="Canva Sans"/>
                <a:cs typeface="Canva Sans"/>
                <a:sym typeface="Canva Sans"/>
              </a:rPr>
              <a:t>Open your browser and go to http://localhost:8000</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6929196" y="8888789"/>
            <a:ext cx="641157" cy="641157"/>
          </a:xfrm>
          <a:custGeom>
            <a:avLst/>
            <a:gdLst/>
            <a:ahLst/>
            <a:cxnLst/>
            <a:rect r="r" b="b" t="t" l="l"/>
            <a:pathLst>
              <a:path h="641157" w="641157">
                <a:moveTo>
                  <a:pt x="0" y="0"/>
                </a:moveTo>
                <a:lnTo>
                  <a:pt x="641158" y="0"/>
                </a:lnTo>
                <a:lnTo>
                  <a:pt x="641158" y="641158"/>
                </a:lnTo>
                <a:lnTo>
                  <a:pt x="0" y="6411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5400000">
            <a:off x="8625107" y="-8625107"/>
            <a:ext cx="1028700" cy="18278914"/>
            <a:chOff x="0" y="0"/>
            <a:chExt cx="270933" cy="4814199"/>
          </a:xfrm>
        </p:grpSpPr>
        <p:sp>
          <p:nvSpPr>
            <p:cNvPr name="Freeform 4" id="4"/>
            <p:cNvSpPr/>
            <p:nvPr/>
          </p:nvSpPr>
          <p:spPr>
            <a:xfrm flipH="false" flipV="false" rot="0">
              <a:off x="0" y="0"/>
              <a:ext cx="270933" cy="4814200"/>
            </a:xfrm>
            <a:custGeom>
              <a:avLst/>
              <a:gdLst/>
              <a:ahLst/>
              <a:cxnLst/>
              <a:rect r="r" b="b" t="t" l="l"/>
              <a:pathLst>
                <a:path h="4814200" w="270933">
                  <a:moveTo>
                    <a:pt x="0" y="0"/>
                  </a:moveTo>
                  <a:lnTo>
                    <a:pt x="270933" y="0"/>
                  </a:lnTo>
                  <a:lnTo>
                    <a:pt x="270933" y="4814200"/>
                  </a:lnTo>
                  <a:lnTo>
                    <a:pt x="0" y="4814200"/>
                  </a:lnTo>
                  <a:close/>
                </a:path>
              </a:pathLst>
            </a:custGeom>
            <a:gradFill rotWithShape="true">
              <a:gsLst>
                <a:gs pos="0">
                  <a:srgbClr val="40DDDF">
                    <a:alpha val="100000"/>
                  </a:srgbClr>
                </a:gs>
                <a:gs pos="100000">
                  <a:srgbClr val="000000">
                    <a:alpha val="0"/>
                  </a:srgbClr>
                </a:gs>
              </a:gsLst>
              <a:lin ang="0"/>
            </a:gradFill>
          </p:spPr>
        </p:sp>
        <p:sp>
          <p:nvSpPr>
            <p:cNvPr name="TextBox 5" id="5"/>
            <p:cNvSpPr txBox="true"/>
            <p:nvPr/>
          </p:nvSpPr>
          <p:spPr>
            <a:xfrm>
              <a:off x="0" y="-38100"/>
              <a:ext cx="270933" cy="4852299"/>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028700" y="8783516"/>
            <a:ext cx="376666" cy="446131"/>
          </a:xfrm>
          <a:custGeom>
            <a:avLst/>
            <a:gdLst/>
            <a:ahLst/>
            <a:cxnLst/>
            <a:rect r="r" b="b" t="t" l="l"/>
            <a:pathLst>
              <a:path h="446131" w="376666">
                <a:moveTo>
                  <a:pt x="0" y="0"/>
                </a:moveTo>
                <a:lnTo>
                  <a:pt x="376666" y="0"/>
                </a:lnTo>
                <a:lnTo>
                  <a:pt x="376666" y="446131"/>
                </a:lnTo>
                <a:lnTo>
                  <a:pt x="0" y="4461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588405" y="2337163"/>
            <a:ext cx="11878902" cy="6295324"/>
          </a:xfrm>
          <a:custGeom>
            <a:avLst/>
            <a:gdLst/>
            <a:ahLst/>
            <a:cxnLst/>
            <a:rect r="r" b="b" t="t" l="l"/>
            <a:pathLst>
              <a:path h="6295324" w="11878902">
                <a:moveTo>
                  <a:pt x="0" y="0"/>
                </a:moveTo>
                <a:lnTo>
                  <a:pt x="11878902" y="0"/>
                </a:lnTo>
                <a:lnTo>
                  <a:pt x="11878902" y="6295324"/>
                </a:lnTo>
                <a:lnTo>
                  <a:pt x="0" y="6295324"/>
                </a:lnTo>
                <a:lnTo>
                  <a:pt x="0" y="0"/>
                </a:lnTo>
                <a:close/>
              </a:path>
            </a:pathLst>
          </a:custGeom>
          <a:blipFill>
            <a:blip r:embed="rId6"/>
            <a:stretch>
              <a:fillRect l="0" t="-1301" r="0" b="-1301"/>
            </a:stretch>
          </a:blipFill>
        </p:spPr>
      </p:sp>
      <p:sp>
        <p:nvSpPr>
          <p:cNvPr name="TextBox 8" id="8"/>
          <p:cNvSpPr txBox="true"/>
          <p:nvPr/>
        </p:nvSpPr>
        <p:spPr>
          <a:xfrm rot="0">
            <a:off x="1588405" y="1020928"/>
            <a:ext cx="6486788" cy="1013888"/>
          </a:xfrm>
          <a:prstGeom prst="rect">
            <a:avLst/>
          </a:prstGeom>
        </p:spPr>
        <p:txBody>
          <a:bodyPr anchor="t" rtlCol="false" tIns="0" lIns="0" bIns="0" rIns="0">
            <a:spAutoFit/>
          </a:bodyPr>
          <a:lstStyle/>
          <a:p>
            <a:pPr algn="l">
              <a:lnSpc>
                <a:spcPts val="7631"/>
              </a:lnSpc>
            </a:pPr>
            <a:r>
              <a:rPr lang="en-US" sz="7631">
                <a:solidFill>
                  <a:srgbClr val="40DDDF"/>
                </a:solidFill>
                <a:latin typeface="Montserrat"/>
                <a:ea typeface="Montserrat"/>
                <a:cs typeface="Montserrat"/>
                <a:sym typeface="Montserrat"/>
              </a:rPr>
              <a:t>SNAPSHOTS </a:t>
            </a:r>
          </a:p>
        </p:txBody>
      </p:sp>
      <p:sp>
        <p:nvSpPr>
          <p:cNvPr name="TextBox 9" id="9"/>
          <p:cNvSpPr txBox="true"/>
          <p:nvPr/>
        </p:nvSpPr>
        <p:spPr>
          <a:xfrm rot="0">
            <a:off x="1405366" y="8860214"/>
            <a:ext cx="2358460" cy="264160"/>
          </a:xfrm>
          <a:prstGeom prst="rect">
            <a:avLst/>
          </a:prstGeom>
        </p:spPr>
        <p:txBody>
          <a:bodyPr anchor="t" rtlCol="false" tIns="0" lIns="0" bIns="0" rIns="0">
            <a:spAutoFit/>
          </a:bodyPr>
          <a:lstStyle/>
          <a:p>
            <a:pPr algn="r">
              <a:lnSpc>
                <a:spcPts val="2239"/>
              </a:lnSpc>
              <a:spcBef>
                <a:spcPct val="0"/>
              </a:spcBef>
            </a:pPr>
            <a:r>
              <a:rPr lang="en-US" b="true" sz="1599">
                <a:solidFill>
                  <a:srgbClr val="FFFFFF"/>
                </a:solidFill>
                <a:latin typeface="Open Sans Bold"/>
                <a:ea typeface="Open Sans Bold"/>
                <a:cs typeface="Open Sans Bold"/>
                <a:sym typeface="Open Sans Bold"/>
              </a:rPr>
              <a:t>GHOST_DEVELOPERS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6929196" y="8888789"/>
            <a:ext cx="641157" cy="641157"/>
          </a:xfrm>
          <a:custGeom>
            <a:avLst/>
            <a:gdLst/>
            <a:ahLst/>
            <a:cxnLst/>
            <a:rect r="r" b="b" t="t" l="l"/>
            <a:pathLst>
              <a:path h="641157" w="641157">
                <a:moveTo>
                  <a:pt x="0" y="0"/>
                </a:moveTo>
                <a:lnTo>
                  <a:pt x="641158" y="0"/>
                </a:lnTo>
                <a:lnTo>
                  <a:pt x="641158" y="641158"/>
                </a:lnTo>
                <a:lnTo>
                  <a:pt x="0" y="6411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5400000">
            <a:off x="8625107" y="-8625107"/>
            <a:ext cx="1028700" cy="18278914"/>
            <a:chOff x="0" y="0"/>
            <a:chExt cx="270933" cy="4814199"/>
          </a:xfrm>
        </p:grpSpPr>
        <p:sp>
          <p:nvSpPr>
            <p:cNvPr name="Freeform 4" id="4"/>
            <p:cNvSpPr/>
            <p:nvPr/>
          </p:nvSpPr>
          <p:spPr>
            <a:xfrm flipH="false" flipV="false" rot="0">
              <a:off x="0" y="0"/>
              <a:ext cx="270933" cy="4814200"/>
            </a:xfrm>
            <a:custGeom>
              <a:avLst/>
              <a:gdLst/>
              <a:ahLst/>
              <a:cxnLst/>
              <a:rect r="r" b="b" t="t" l="l"/>
              <a:pathLst>
                <a:path h="4814200" w="270933">
                  <a:moveTo>
                    <a:pt x="0" y="0"/>
                  </a:moveTo>
                  <a:lnTo>
                    <a:pt x="270933" y="0"/>
                  </a:lnTo>
                  <a:lnTo>
                    <a:pt x="270933" y="4814200"/>
                  </a:lnTo>
                  <a:lnTo>
                    <a:pt x="0" y="4814200"/>
                  </a:lnTo>
                  <a:close/>
                </a:path>
              </a:pathLst>
            </a:custGeom>
            <a:gradFill rotWithShape="true">
              <a:gsLst>
                <a:gs pos="0">
                  <a:srgbClr val="40DDDF">
                    <a:alpha val="100000"/>
                  </a:srgbClr>
                </a:gs>
                <a:gs pos="100000">
                  <a:srgbClr val="000000">
                    <a:alpha val="0"/>
                  </a:srgbClr>
                </a:gs>
              </a:gsLst>
              <a:lin ang="0"/>
            </a:gradFill>
          </p:spPr>
        </p:sp>
        <p:sp>
          <p:nvSpPr>
            <p:cNvPr name="TextBox 5" id="5"/>
            <p:cNvSpPr txBox="true"/>
            <p:nvPr/>
          </p:nvSpPr>
          <p:spPr>
            <a:xfrm>
              <a:off x="0" y="-38100"/>
              <a:ext cx="270933" cy="4852299"/>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028700" y="8783516"/>
            <a:ext cx="376666" cy="446131"/>
          </a:xfrm>
          <a:custGeom>
            <a:avLst/>
            <a:gdLst/>
            <a:ahLst/>
            <a:cxnLst/>
            <a:rect r="r" b="b" t="t" l="l"/>
            <a:pathLst>
              <a:path h="446131" w="376666">
                <a:moveTo>
                  <a:pt x="0" y="0"/>
                </a:moveTo>
                <a:lnTo>
                  <a:pt x="376666" y="0"/>
                </a:lnTo>
                <a:lnTo>
                  <a:pt x="376666" y="446131"/>
                </a:lnTo>
                <a:lnTo>
                  <a:pt x="0" y="4461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588405" y="2223397"/>
            <a:ext cx="13578453" cy="6466738"/>
          </a:xfrm>
          <a:custGeom>
            <a:avLst/>
            <a:gdLst/>
            <a:ahLst/>
            <a:cxnLst/>
            <a:rect r="r" b="b" t="t" l="l"/>
            <a:pathLst>
              <a:path h="6466738" w="13578453">
                <a:moveTo>
                  <a:pt x="0" y="0"/>
                </a:moveTo>
                <a:lnTo>
                  <a:pt x="13578453" y="0"/>
                </a:lnTo>
                <a:lnTo>
                  <a:pt x="13578453" y="6466738"/>
                </a:lnTo>
                <a:lnTo>
                  <a:pt x="0" y="6466738"/>
                </a:lnTo>
                <a:lnTo>
                  <a:pt x="0" y="0"/>
                </a:lnTo>
                <a:close/>
              </a:path>
            </a:pathLst>
          </a:custGeom>
          <a:blipFill>
            <a:blip r:embed="rId6"/>
            <a:stretch>
              <a:fillRect l="0" t="0" r="0" b="0"/>
            </a:stretch>
          </a:blipFill>
        </p:spPr>
      </p:sp>
      <p:sp>
        <p:nvSpPr>
          <p:cNvPr name="TextBox 8" id="8"/>
          <p:cNvSpPr txBox="true"/>
          <p:nvPr/>
        </p:nvSpPr>
        <p:spPr>
          <a:xfrm rot="0">
            <a:off x="1588405" y="1020928"/>
            <a:ext cx="6486788" cy="1013888"/>
          </a:xfrm>
          <a:prstGeom prst="rect">
            <a:avLst/>
          </a:prstGeom>
        </p:spPr>
        <p:txBody>
          <a:bodyPr anchor="t" rtlCol="false" tIns="0" lIns="0" bIns="0" rIns="0">
            <a:spAutoFit/>
          </a:bodyPr>
          <a:lstStyle/>
          <a:p>
            <a:pPr algn="l">
              <a:lnSpc>
                <a:spcPts val="7631"/>
              </a:lnSpc>
            </a:pPr>
            <a:r>
              <a:rPr lang="en-US" sz="7631">
                <a:solidFill>
                  <a:srgbClr val="40DDDF"/>
                </a:solidFill>
                <a:latin typeface="Montserrat"/>
                <a:ea typeface="Montserrat"/>
                <a:cs typeface="Montserrat"/>
                <a:sym typeface="Montserrat"/>
              </a:rPr>
              <a:t>SNAPSHOTS </a:t>
            </a:r>
          </a:p>
        </p:txBody>
      </p:sp>
      <p:sp>
        <p:nvSpPr>
          <p:cNvPr name="TextBox 9" id="9"/>
          <p:cNvSpPr txBox="true"/>
          <p:nvPr/>
        </p:nvSpPr>
        <p:spPr>
          <a:xfrm rot="0">
            <a:off x="1405366" y="8860214"/>
            <a:ext cx="2358460" cy="264160"/>
          </a:xfrm>
          <a:prstGeom prst="rect">
            <a:avLst/>
          </a:prstGeom>
        </p:spPr>
        <p:txBody>
          <a:bodyPr anchor="t" rtlCol="false" tIns="0" lIns="0" bIns="0" rIns="0">
            <a:spAutoFit/>
          </a:bodyPr>
          <a:lstStyle/>
          <a:p>
            <a:pPr algn="r">
              <a:lnSpc>
                <a:spcPts val="2239"/>
              </a:lnSpc>
              <a:spcBef>
                <a:spcPct val="0"/>
              </a:spcBef>
            </a:pPr>
            <a:r>
              <a:rPr lang="en-US" b="true" sz="1599">
                <a:solidFill>
                  <a:srgbClr val="FFFFFF"/>
                </a:solidFill>
                <a:latin typeface="Open Sans Bold"/>
                <a:ea typeface="Open Sans Bold"/>
                <a:cs typeface="Open Sans Bold"/>
                <a:sym typeface="Open Sans Bold"/>
              </a:rPr>
              <a:t>GHOST_DEVELOPERS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6929196" y="8888789"/>
            <a:ext cx="641157" cy="641157"/>
          </a:xfrm>
          <a:custGeom>
            <a:avLst/>
            <a:gdLst/>
            <a:ahLst/>
            <a:cxnLst/>
            <a:rect r="r" b="b" t="t" l="l"/>
            <a:pathLst>
              <a:path h="641157" w="641157">
                <a:moveTo>
                  <a:pt x="0" y="0"/>
                </a:moveTo>
                <a:lnTo>
                  <a:pt x="641158" y="0"/>
                </a:lnTo>
                <a:lnTo>
                  <a:pt x="641158" y="641158"/>
                </a:lnTo>
                <a:lnTo>
                  <a:pt x="0" y="6411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5400000">
            <a:off x="8625107" y="-8625107"/>
            <a:ext cx="1028700" cy="18278914"/>
            <a:chOff x="0" y="0"/>
            <a:chExt cx="270933" cy="4814199"/>
          </a:xfrm>
        </p:grpSpPr>
        <p:sp>
          <p:nvSpPr>
            <p:cNvPr name="Freeform 4" id="4"/>
            <p:cNvSpPr/>
            <p:nvPr/>
          </p:nvSpPr>
          <p:spPr>
            <a:xfrm flipH="false" flipV="false" rot="0">
              <a:off x="0" y="0"/>
              <a:ext cx="270933" cy="4814200"/>
            </a:xfrm>
            <a:custGeom>
              <a:avLst/>
              <a:gdLst/>
              <a:ahLst/>
              <a:cxnLst/>
              <a:rect r="r" b="b" t="t" l="l"/>
              <a:pathLst>
                <a:path h="4814200" w="270933">
                  <a:moveTo>
                    <a:pt x="0" y="0"/>
                  </a:moveTo>
                  <a:lnTo>
                    <a:pt x="270933" y="0"/>
                  </a:lnTo>
                  <a:lnTo>
                    <a:pt x="270933" y="4814200"/>
                  </a:lnTo>
                  <a:lnTo>
                    <a:pt x="0" y="4814200"/>
                  </a:lnTo>
                  <a:close/>
                </a:path>
              </a:pathLst>
            </a:custGeom>
            <a:gradFill rotWithShape="true">
              <a:gsLst>
                <a:gs pos="0">
                  <a:srgbClr val="40DDDF">
                    <a:alpha val="100000"/>
                  </a:srgbClr>
                </a:gs>
                <a:gs pos="100000">
                  <a:srgbClr val="000000">
                    <a:alpha val="0"/>
                  </a:srgbClr>
                </a:gs>
              </a:gsLst>
              <a:lin ang="0"/>
            </a:gradFill>
          </p:spPr>
        </p:sp>
        <p:sp>
          <p:nvSpPr>
            <p:cNvPr name="TextBox 5" id="5"/>
            <p:cNvSpPr txBox="true"/>
            <p:nvPr/>
          </p:nvSpPr>
          <p:spPr>
            <a:xfrm>
              <a:off x="0" y="-38100"/>
              <a:ext cx="270933" cy="4852299"/>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028700" y="8783516"/>
            <a:ext cx="376666" cy="446131"/>
          </a:xfrm>
          <a:custGeom>
            <a:avLst/>
            <a:gdLst/>
            <a:ahLst/>
            <a:cxnLst/>
            <a:rect r="r" b="b" t="t" l="l"/>
            <a:pathLst>
              <a:path h="446131" w="376666">
                <a:moveTo>
                  <a:pt x="0" y="0"/>
                </a:moveTo>
                <a:lnTo>
                  <a:pt x="376666" y="0"/>
                </a:lnTo>
                <a:lnTo>
                  <a:pt x="376666" y="446131"/>
                </a:lnTo>
                <a:lnTo>
                  <a:pt x="0" y="4461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588405" y="2169856"/>
            <a:ext cx="12301814" cy="6473829"/>
          </a:xfrm>
          <a:custGeom>
            <a:avLst/>
            <a:gdLst/>
            <a:ahLst/>
            <a:cxnLst/>
            <a:rect r="r" b="b" t="t" l="l"/>
            <a:pathLst>
              <a:path h="6473829" w="12301814">
                <a:moveTo>
                  <a:pt x="0" y="0"/>
                </a:moveTo>
                <a:lnTo>
                  <a:pt x="12301814" y="0"/>
                </a:lnTo>
                <a:lnTo>
                  <a:pt x="12301814" y="6473830"/>
                </a:lnTo>
                <a:lnTo>
                  <a:pt x="0" y="6473830"/>
                </a:lnTo>
                <a:lnTo>
                  <a:pt x="0" y="0"/>
                </a:lnTo>
                <a:close/>
              </a:path>
            </a:pathLst>
          </a:custGeom>
          <a:blipFill>
            <a:blip r:embed="rId6"/>
            <a:stretch>
              <a:fillRect l="0" t="0" r="0" b="0"/>
            </a:stretch>
          </a:blipFill>
        </p:spPr>
      </p:sp>
      <p:sp>
        <p:nvSpPr>
          <p:cNvPr name="TextBox 8" id="8"/>
          <p:cNvSpPr txBox="true"/>
          <p:nvPr/>
        </p:nvSpPr>
        <p:spPr>
          <a:xfrm rot="0">
            <a:off x="1588405" y="1020928"/>
            <a:ext cx="6486788" cy="1013888"/>
          </a:xfrm>
          <a:prstGeom prst="rect">
            <a:avLst/>
          </a:prstGeom>
        </p:spPr>
        <p:txBody>
          <a:bodyPr anchor="t" rtlCol="false" tIns="0" lIns="0" bIns="0" rIns="0">
            <a:spAutoFit/>
          </a:bodyPr>
          <a:lstStyle/>
          <a:p>
            <a:pPr algn="l">
              <a:lnSpc>
                <a:spcPts val="7631"/>
              </a:lnSpc>
            </a:pPr>
            <a:r>
              <a:rPr lang="en-US" sz="7631">
                <a:solidFill>
                  <a:srgbClr val="40DDDF"/>
                </a:solidFill>
                <a:latin typeface="Montserrat"/>
                <a:ea typeface="Montserrat"/>
                <a:cs typeface="Montserrat"/>
                <a:sym typeface="Montserrat"/>
              </a:rPr>
              <a:t>SNAPSHOTS </a:t>
            </a:r>
          </a:p>
        </p:txBody>
      </p:sp>
      <p:sp>
        <p:nvSpPr>
          <p:cNvPr name="TextBox 9" id="9"/>
          <p:cNvSpPr txBox="true"/>
          <p:nvPr/>
        </p:nvSpPr>
        <p:spPr>
          <a:xfrm rot="0">
            <a:off x="1405366" y="8860214"/>
            <a:ext cx="2358460" cy="264160"/>
          </a:xfrm>
          <a:prstGeom prst="rect">
            <a:avLst/>
          </a:prstGeom>
        </p:spPr>
        <p:txBody>
          <a:bodyPr anchor="t" rtlCol="false" tIns="0" lIns="0" bIns="0" rIns="0">
            <a:spAutoFit/>
          </a:bodyPr>
          <a:lstStyle/>
          <a:p>
            <a:pPr algn="r">
              <a:lnSpc>
                <a:spcPts val="2239"/>
              </a:lnSpc>
              <a:spcBef>
                <a:spcPct val="0"/>
              </a:spcBef>
            </a:pPr>
            <a:r>
              <a:rPr lang="en-US" b="true" sz="1599">
                <a:solidFill>
                  <a:srgbClr val="FFFFFF"/>
                </a:solidFill>
                <a:latin typeface="Open Sans Bold"/>
                <a:ea typeface="Open Sans Bold"/>
                <a:cs typeface="Open Sans Bold"/>
                <a:sym typeface="Open Sans Bold"/>
              </a:rPr>
              <a:t>GHOST_DEVELOPERS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5400000">
            <a:off x="4450278" y="5800675"/>
            <a:ext cx="1045697" cy="7926952"/>
            <a:chOff x="0" y="0"/>
            <a:chExt cx="275410" cy="2087757"/>
          </a:xfrm>
        </p:grpSpPr>
        <p:sp>
          <p:nvSpPr>
            <p:cNvPr name="Freeform 3" id="3"/>
            <p:cNvSpPr/>
            <p:nvPr/>
          </p:nvSpPr>
          <p:spPr>
            <a:xfrm flipH="false" flipV="false" rot="0">
              <a:off x="0" y="0"/>
              <a:ext cx="275410" cy="2087757"/>
            </a:xfrm>
            <a:custGeom>
              <a:avLst/>
              <a:gdLst/>
              <a:ahLst/>
              <a:cxnLst/>
              <a:rect r="r" b="b" t="t" l="l"/>
              <a:pathLst>
                <a:path h="2087757" w="275410">
                  <a:moveTo>
                    <a:pt x="0" y="0"/>
                  </a:moveTo>
                  <a:lnTo>
                    <a:pt x="275410" y="0"/>
                  </a:lnTo>
                  <a:lnTo>
                    <a:pt x="275410" y="2087757"/>
                  </a:lnTo>
                  <a:lnTo>
                    <a:pt x="0" y="2087757"/>
                  </a:lnTo>
                  <a:close/>
                </a:path>
              </a:pathLst>
            </a:custGeom>
            <a:gradFill rotWithShape="true">
              <a:gsLst>
                <a:gs pos="0">
                  <a:srgbClr val="000000">
                    <a:alpha val="100000"/>
                  </a:srgbClr>
                </a:gs>
                <a:gs pos="100000">
                  <a:srgbClr val="000000">
                    <a:alpha val="0"/>
                  </a:srgbClr>
                </a:gs>
              </a:gsLst>
              <a:lin ang="0"/>
            </a:gradFill>
          </p:spPr>
        </p:sp>
        <p:sp>
          <p:nvSpPr>
            <p:cNvPr name="TextBox 4" id="4"/>
            <p:cNvSpPr txBox="true"/>
            <p:nvPr/>
          </p:nvSpPr>
          <p:spPr>
            <a:xfrm>
              <a:off x="0" y="-38100"/>
              <a:ext cx="275410" cy="2125857"/>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5400000">
            <a:off x="13374956" y="-2468940"/>
            <a:ext cx="1392948" cy="6330827"/>
            <a:chOff x="0" y="0"/>
            <a:chExt cx="366867" cy="1667378"/>
          </a:xfrm>
        </p:grpSpPr>
        <p:sp>
          <p:nvSpPr>
            <p:cNvPr name="Freeform 6" id="6"/>
            <p:cNvSpPr/>
            <p:nvPr/>
          </p:nvSpPr>
          <p:spPr>
            <a:xfrm flipH="false" flipV="false" rot="0">
              <a:off x="0" y="0"/>
              <a:ext cx="366867" cy="1667378"/>
            </a:xfrm>
            <a:custGeom>
              <a:avLst/>
              <a:gdLst/>
              <a:ahLst/>
              <a:cxnLst/>
              <a:rect r="r" b="b" t="t" l="l"/>
              <a:pathLst>
                <a:path h="1667378" w="366867">
                  <a:moveTo>
                    <a:pt x="0" y="0"/>
                  </a:moveTo>
                  <a:lnTo>
                    <a:pt x="366867" y="0"/>
                  </a:lnTo>
                  <a:lnTo>
                    <a:pt x="366867" y="1667378"/>
                  </a:lnTo>
                  <a:lnTo>
                    <a:pt x="0" y="1667378"/>
                  </a:lnTo>
                  <a:close/>
                </a:path>
              </a:pathLst>
            </a:custGeom>
            <a:gradFill rotWithShape="true">
              <a:gsLst>
                <a:gs pos="0">
                  <a:srgbClr val="40DDDF">
                    <a:alpha val="100000"/>
                  </a:srgbClr>
                </a:gs>
                <a:gs pos="100000">
                  <a:srgbClr val="000000">
                    <a:alpha val="0"/>
                  </a:srgbClr>
                </a:gs>
              </a:gsLst>
              <a:lin ang="0"/>
            </a:gradFill>
          </p:spPr>
        </p:sp>
        <p:sp>
          <p:nvSpPr>
            <p:cNvPr name="TextBox 7" id="7"/>
            <p:cNvSpPr txBox="true"/>
            <p:nvPr/>
          </p:nvSpPr>
          <p:spPr>
            <a:xfrm>
              <a:off x="0" y="-38100"/>
              <a:ext cx="366867" cy="170547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0906016" y="1028700"/>
            <a:ext cx="6353284" cy="3135951"/>
            <a:chOff x="0" y="0"/>
            <a:chExt cx="1673293" cy="825930"/>
          </a:xfrm>
        </p:grpSpPr>
        <p:sp>
          <p:nvSpPr>
            <p:cNvPr name="Freeform 9" id="9"/>
            <p:cNvSpPr/>
            <p:nvPr/>
          </p:nvSpPr>
          <p:spPr>
            <a:xfrm flipH="false" flipV="false" rot="0">
              <a:off x="0" y="0"/>
              <a:ext cx="1673293" cy="825930"/>
            </a:xfrm>
            <a:custGeom>
              <a:avLst/>
              <a:gdLst/>
              <a:ahLst/>
              <a:cxnLst/>
              <a:rect r="r" b="b" t="t" l="l"/>
              <a:pathLst>
                <a:path h="825930" w="1673293">
                  <a:moveTo>
                    <a:pt x="24371" y="0"/>
                  </a:moveTo>
                  <a:lnTo>
                    <a:pt x="1648921" y="0"/>
                  </a:lnTo>
                  <a:cubicBezTo>
                    <a:pt x="1655385" y="0"/>
                    <a:pt x="1661584" y="2568"/>
                    <a:pt x="1666155" y="7138"/>
                  </a:cubicBezTo>
                  <a:cubicBezTo>
                    <a:pt x="1670725" y="11709"/>
                    <a:pt x="1673293" y="17908"/>
                    <a:pt x="1673293" y="24371"/>
                  </a:cubicBezTo>
                  <a:lnTo>
                    <a:pt x="1673293" y="801558"/>
                  </a:lnTo>
                  <a:cubicBezTo>
                    <a:pt x="1673293" y="808022"/>
                    <a:pt x="1670725" y="814221"/>
                    <a:pt x="1666155" y="818791"/>
                  </a:cubicBezTo>
                  <a:cubicBezTo>
                    <a:pt x="1661584" y="823362"/>
                    <a:pt x="1655385" y="825930"/>
                    <a:pt x="1648921" y="825930"/>
                  </a:cubicBezTo>
                  <a:lnTo>
                    <a:pt x="24371" y="825930"/>
                  </a:lnTo>
                  <a:cubicBezTo>
                    <a:pt x="17908" y="825930"/>
                    <a:pt x="11709" y="823362"/>
                    <a:pt x="7138" y="818791"/>
                  </a:cubicBezTo>
                  <a:cubicBezTo>
                    <a:pt x="2568" y="814221"/>
                    <a:pt x="0" y="808022"/>
                    <a:pt x="0" y="801558"/>
                  </a:cubicBezTo>
                  <a:lnTo>
                    <a:pt x="0" y="24371"/>
                  </a:lnTo>
                  <a:cubicBezTo>
                    <a:pt x="0" y="17908"/>
                    <a:pt x="2568" y="11709"/>
                    <a:pt x="7138" y="7138"/>
                  </a:cubicBezTo>
                  <a:cubicBezTo>
                    <a:pt x="11709" y="2568"/>
                    <a:pt x="17908" y="0"/>
                    <a:pt x="24371" y="0"/>
                  </a:cubicBezTo>
                  <a:close/>
                </a:path>
              </a:pathLst>
            </a:custGeom>
            <a:solidFill>
              <a:srgbClr val="40DDDF"/>
            </a:solidFill>
            <a:ln w="19050" cap="sq">
              <a:solidFill>
                <a:srgbClr val="40DDDF"/>
              </a:solidFill>
              <a:prstDash val="solid"/>
              <a:miter/>
            </a:ln>
          </p:spPr>
        </p:sp>
        <p:sp>
          <p:nvSpPr>
            <p:cNvPr name="TextBox 10" id="10"/>
            <p:cNvSpPr txBox="true"/>
            <p:nvPr/>
          </p:nvSpPr>
          <p:spPr>
            <a:xfrm>
              <a:off x="0" y="-38100"/>
              <a:ext cx="1673293" cy="864030"/>
            </a:xfrm>
            <a:prstGeom prst="rect">
              <a:avLst/>
            </a:prstGeom>
          </p:spPr>
          <p:txBody>
            <a:bodyPr anchor="ctr" rtlCol="false" tIns="50800" lIns="50800" bIns="50800" rIns="50800"/>
            <a:lstStyle/>
            <a:p>
              <a:pPr algn="ctr">
                <a:lnSpc>
                  <a:spcPts val="3359"/>
                </a:lnSpc>
              </a:pPr>
            </a:p>
          </p:txBody>
        </p:sp>
      </p:grpSp>
      <p:sp>
        <p:nvSpPr>
          <p:cNvPr name="Freeform 11" id="11"/>
          <p:cNvSpPr/>
          <p:nvPr/>
        </p:nvSpPr>
        <p:spPr>
          <a:xfrm flipH="false" flipV="false" rot="0">
            <a:off x="8936602" y="1072369"/>
            <a:ext cx="641157" cy="641157"/>
          </a:xfrm>
          <a:custGeom>
            <a:avLst/>
            <a:gdLst/>
            <a:ahLst/>
            <a:cxnLst/>
            <a:rect r="r" b="b" t="t" l="l"/>
            <a:pathLst>
              <a:path h="641157" w="641157">
                <a:moveTo>
                  <a:pt x="0" y="0"/>
                </a:moveTo>
                <a:lnTo>
                  <a:pt x="641158" y="0"/>
                </a:lnTo>
                <a:lnTo>
                  <a:pt x="641158" y="641157"/>
                </a:lnTo>
                <a:lnTo>
                  <a:pt x="0" y="6411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028700" y="1052123"/>
            <a:ext cx="376666" cy="446131"/>
          </a:xfrm>
          <a:custGeom>
            <a:avLst/>
            <a:gdLst/>
            <a:ahLst/>
            <a:cxnLst/>
            <a:rect r="r" b="b" t="t" l="l"/>
            <a:pathLst>
              <a:path h="446131" w="376666">
                <a:moveTo>
                  <a:pt x="0" y="0"/>
                </a:moveTo>
                <a:lnTo>
                  <a:pt x="376666" y="0"/>
                </a:lnTo>
                <a:lnTo>
                  <a:pt x="376666" y="446131"/>
                </a:lnTo>
                <a:lnTo>
                  <a:pt x="0" y="4461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3" id="13"/>
          <p:cNvGrpSpPr/>
          <p:nvPr/>
        </p:nvGrpSpPr>
        <p:grpSpPr>
          <a:xfrm rot="0">
            <a:off x="11364570" y="1430229"/>
            <a:ext cx="5436176" cy="2332894"/>
            <a:chOff x="0" y="0"/>
            <a:chExt cx="1645382" cy="706103"/>
          </a:xfrm>
        </p:grpSpPr>
        <p:sp>
          <p:nvSpPr>
            <p:cNvPr name="Freeform 14" id="14"/>
            <p:cNvSpPr/>
            <p:nvPr/>
          </p:nvSpPr>
          <p:spPr>
            <a:xfrm flipH="false" flipV="false" rot="0">
              <a:off x="0" y="0"/>
              <a:ext cx="1645382" cy="706103"/>
            </a:xfrm>
            <a:custGeom>
              <a:avLst/>
              <a:gdLst/>
              <a:ahLst/>
              <a:cxnLst/>
              <a:rect r="r" b="b" t="t" l="l"/>
              <a:pathLst>
                <a:path h="706103" w="1645382">
                  <a:moveTo>
                    <a:pt x="28483" y="0"/>
                  </a:moveTo>
                  <a:lnTo>
                    <a:pt x="1616899" y="0"/>
                  </a:lnTo>
                  <a:cubicBezTo>
                    <a:pt x="1624453" y="0"/>
                    <a:pt x="1631698" y="3001"/>
                    <a:pt x="1637040" y="8342"/>
                  </a:cubicBezTo>
                  <a:cubicBezTo>
                    <a:pt x="1642381" y="13684"/>
                    <a:pt x="1645382" y="20929"/>
                    <a:pt x="1645382" y="28483"/>
                  </a:cubicBezTo>
                  <a:lnTo>
                    <a:pt x="1645382" y="677620"/>
                  </a:lnTo>
                  <a:cubicBezTo>
                    <a:pt x="1645382" y="693351"/>
                    <a:pt x="1632630" y="706103"/>
                    <a:pt x="1616899" y="706103"/>
                  </a:cubicBezTo>
                  <a:lnTo>
                    <a:pt x="28483" y="706103"/>
                  </a:lnTo>
                  <a:cubicBezTo>
                    <a:pt x="12752" y="706103"/>
                    <a:pt x="0" y="693351"/>
                    <a:pt x="0" y="677620"/>
                  </a:cubicBezTo>
                  <a:lnTo>
                    <a:pt x="0" y="28483"/>
                  </a:lnTo>
                  <a:cubicBezTo>
                    <a:pt x="0" y="12752"/>
                    <a:pt x="12752" y="0"/>
                    <a:pt x="28483" y="0"/>
                  </a:cubicBezTo>
                  <a:close/>
                </a:path>
              </a:pathLst>
            </a:custGeom>
            <a:blipFill>
              <a:blip r:embed="rId6"/>
              <a:stretch>
                <a:fillRect l="0" t="-15537" r="0" b="-15537"/>
              </a:stretch>
            </a:blipFill>
          </p:spPr>
        </p:sp>
      </p:grpSp>
      <p:sp>
        <p:nvSpPr>
          <p:cNvPr name="Freeform 15" id="15"/>
          <p:cNvSpPr/>
          <p:nvPr/>
        </p:nvSpPr>
        <p:spPr>
          <a:xfrm flipH="false" flipV="false" rot="0">
            <a:off x="1028700" y="4907601"/>
            <a:ext cx="16208143" cy="4092042"/>
          </a:xfrm>
          <a:custGeom>
            <a:avLst/>
            <a:gdLst/>
            <a:ahLst/>
            <a:cxnLst/>
            <a:rect r="r" b="b" t="t" l="l"/>
            <a:pathLst>
              <a:path h="4092042" w="16208143">
                <a:moveTo>
                  <a:pt x="0" y="0"/>
                </a:moveTo>
                <a:lnTo>
                  <a:pt x="16208143" y="0"/>
                </a:lnTo>
                <a:lnTo>
                  <a:pt x="16208143" y="4092042"/>
                </a:lnTo>
                <a:lnTo>
                  <a:pt x="0" y="4092042"/>
                </a:lnTo>
                <a:lnTo>
                  <a:pt x="0" y="0"/>
                </a:lnTo>
                <a:close/>
              </a:path>
            </a:pathLst>
          </a:custGeom>
          <a:blipFill>
            <a:blip r:embed="rId7"/>
            <a:stretch>
              <a:fillRect l="0" t="0" r="0" b="0"/>
            </a:stretch>
          </a:blipFill>
        </p:spPr>
      </p:sp>
      <p:sp>
        <p:nvSpPr>
          <p:cNvPr name="TextBox 16" id="16"/>
          <p:cNvSpPr txBox="true"/>
          <p:nvPr/>
        </p:nvSpPr>
        <p:spPr>
          <a:xfrm rot="0">
            <a:off x="1009650" y="2282285"/>
            <a:ext cx="9896366" cy="1057329"/>
          </a:xfrm>
          <a:prstGeom prst="rect">
            <a:avLst/>
          </a:prstGeom>
        </p:spPr>
        <p:txBody>
          <a:bodyPr anchor="t" rtlCol="false" tIns="0" lIns="0" bIns="0" rIns="0">
            <a:spAutoFit/>
          </a:bodyPr>
          <a:lstStyle/>
          <a:p>
            <a:pPr algn="l">
              <a:lnSpc>
                <a:spcPts val="7917"/>
              </a:lnSpc>
            </a:pPr>
            <a:r>
              <a:rPr lang="en-US" sz="7917">
                <a:solidFill>
                  <a:srgbClr val="40DDDF"/>
                </a:solidFill>
                <a:latin typeface="Montserrat"/>
                <a:ea typeface="Montserrat"/>
                <a:cs typeface="Montserrat"/>
                <a:sym typeface="Montserrat"/>
              </a:rPr>
              <a:t>STATIC ANALYZER</a:t>
            </a:r>
          </a:p>
        </p:txBody>
      </p:sp>
      <p:sp>
        <p:nvSpPr>
          <p:cNvPr name="TextBox 17" id="17"/>
          <p:cNvSpPr txBox="true"/>
          <p:nvPr/>
        </p:nvSpPr>
        <p:spPr>
          <a:xfrm rot="0">
            <a:off x="1405366" y="1128821"/>
            <a:ext cx="2358460" cy="264160"/>
          </a:xfrm>
          <a:prstGeom prst="rect">
            <a:avLst/>
          </a:prstGeom>
        </p:spPr>
        <p:txBody>
          <a:bodyPr anchor="t" rtlCol="false" tIns="0" lIns="0" bIns="0" rIns="0">
            <a:spAutoFit/>
          </a:bodyPr>
          <a:lstStyle/>
          <a:p>
            <a:pPr algn="r">
              <a:lnSpc>
                <a:spcPts val="2239"/>
              </a:lnSpc>
              <a:spcBef>
                <a:spcPct val="0"/>
              </a:spcBef>
            </a:pPr>
            <a:r>
              <a:rPr lang="en-US" b="true" sz="1599">
                <a:solidFill>
                  <a:srgbClr val="FFFFFF"/>
                </a:solidFill>
                <a:latin typeface="Open Sans Bold"/>
                <a:ea typeface="Open Sans Bold"/>
                <a:cs typeface="Open Sans Bold"/>
                <a:sym typeface="Open Sans Bold"/>
              </a:rPr>
              <a:t>GHOST_DEVELOPERS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6929196" y="8888789"/>
            <a:ext cx="641157" cy="641157"/>
          </a:xfrm>
          <a:custGeom>
            <a:avLst/>
            <a:gdLst/>
            <a:ahLst/>
            <a:cxnLst/>
            <a:rect r="r" b="b" t="t" l="l"/>
            <a:pathLst>
              <a:path h="641157" w="641157">
                <a:moveTo>
                  <a:pt x="0" y="0"/>
                </a:moveTo>
                <a:lnTo>
                  <a:pt x="641158" y="0"/>
                </a:lnTo>
                <a:lnTo>
                  <a:pt x="641158" y="641158"/>
                </a:lnTo>
                <a:lnTo>
                  <a:pt x="0" y="6411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5400000">
            <a:off x="8625107" y="-8625107"/>
            <a:ext cx="1028700" cy="18278914"/>
            <a:chOff x="0" y="0"/>
            <a:chExt cx="270933" cy="4814199"/>
          </a:xfrm>
        </p:grpSpPr>
        <p:sp>
          <p:nvSpPr>
            <p:cNvPr name="Freeform 4" id="4"/>
            <p:cNvSpPr/>
            <p:nvPr/>
          </p:nvSpPr>
          <p:spPr>
            <a:xfrm flipH="false" flipV="false" rot="0">
              <a:off x="0" y="0"/>
              <a:ext cx="270933" cy="4814200"/>
            </a:xfrm>
            <a:custGeom>
              <a:avLst/>
              <a:gdLst/>
              <a:ahLst/>
              <a:cxnLst/>
              <a:rect r="r" b="b" t="t" l="l"/>
              <a:pathLst>
                <a:path h="4814200" w="270933">
                  <a:moveTo>
                    <a:pt x="0" y="0"/>
                  </a:moveTo>
                  <a:lnTo>
                    <a:pt x="270933" y="0"/>
                  </a:lnTo>
                  <a:lnTo>
                    <a:pt x="270933" y="4814200"/>
                  </a:lnTo>
                  <a:lnTo>
                    <a:pt x="0" y="4814200"/>
                  </a:lnTo>
                  <a:close/>
                </a:path>
              </a:pathLst>
            </a:custGeom>
            <a:gradFill rotWithShape="true">
              <a:gsLst>
                <a:gs pos="0">
                  <a:srgbClr val="40DDDF">
                    <a:alpha val="100000"/>
                  </a:srgbClr>
                </a:gs>
                <a:gs pos="100000">
                  <a:srgbClr val="000000">
                    <a:alpha val="0"/>
                  </a:srgbClr>
                </a:gs>
              </a:gsLst>
              <a:lin ang="0"/>
            </a:gradFill>
          </p:spPr>
        </p:sp>
        <p:sp>
          <p:nvSpPr>
            <p:cNvPr name="TextBox 5" id="5"/>
            <p:cNvSpPr txBox="true"/>
            <p:nvPr/>
          </p:nvSpPr>
          <p:spPr>
            <a:xfrm>
              <a:off x="0" y="-38100"/>
              <a:ext cx="270933" cy="4852299"/>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028700" y="8783516"/>
            <a:ext cx="376666" cy="446131"/>
          </a:xfrm>
          <a:custGeom>
            <a:avLst/>
            <a:gdLst/>
            <a:ahLst/>
            <a:cxnLst/>
            <a:rect r="r" b="b" t="t" l="l"/>
            <a:pathLst>
              <a:path h="446131" w="376666">
                <a:moveTo>
                  <a:pt x="0" y="0"/>
                </a:moveTo>
                <a:lnTo>
                  <a:pt x="376666" y="0"/>
                </a:lnTo>
                <a:lnTo>
                  <a:pt x="376666" y="446131"/>
                </a:lnTo>
                <a:lnTo>
                  <a:pt x="0" y="4461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588405" y="2324540"/>
            <a:ext cx="13405616" cy="5982256"/>
          </a:xfrm>
          <a:custGeom>
            <a:avLst/>
            <a:gdLst/>
            <a:ahLst/>
            <a:cxnLst/>
            <a:rect r="r" b="b" t="t" l="l"/>
            <a:pathLst>
              <a:path h="5982256" w="13405616">
                <a:moveTo>
                  <a:pt x="0" y="0"/>
                </a:moveTo>
                <a:lnTo>
                  <a:pt x="13405616" y="0"/>
                </a:lnTo>
                <a:lnTo>
                  <a:pt x="13405616" y="5982256"/>
                </a:lnTo>
                <a:lnTo>
                  <a:pt x="0" y="5982256"/>
                </a:lnTo>
                <a:lnTo>
                  <a:pt x="0" y="0"/>
                </a:lnTo>
                <a:close/>
              </a:path>
            </a:pathLst>
          </a:custGeom>
          <a:blipFill>
            <a:blip r:embed="rId6"/>
            <a:stretch>
              <a:fillRect l="0" t="0" r="0" b="0"/>
            </a:stretch>
          </a:blipFill>
        </p:spPr>
      </p:sp>
      <p:sp>
        <p:nvSpPr>
          <p:cNvPr name="TextBox 8" id="8"/>
          <p:cNvSpPr txBox="true"/>
          <p:nvPr/>
        </p:nvSpPr>
        <p:spPr>
          <a:xfrm rot="0">
            <a:off x="1588405" y="1020928"/>
            <a:ext cx="6486788" cy="1013888"/>
          </a:xfrm>
          <a:prstGeom prst="rect">
            <a:avLst/>
          </a:prstGeom>
        </p:spPr>
        <p:txBody>
          <a:bodyPr anchor="t" rtlCol="false" tIns="0" lIns="0" bIns="0" rIns="0">
            <a:spAutoFit/>
          </a:bodyPr>
          <a:lstStyle/>
          <a:p>
            <a:pPr algn="l">
              <a:lnSpc>
                <a:spcPts val="7631"/>
              </a:lnSpc>
            </a:pPr>
            <a:r>
              <a:rPr lang="en-US" sz="7631">
                <a:solidFill>
                  <a:srgbClr val="40DDDF"/>
                </a:solidFill>
                <a:latin typeface="Montserrat"/>
                <a:ea typeface="Montserrat"/>
                <a:cs typeface="Montserrat"/>
                <a:sym typeface="Montserrat"/>
              </a:rPr>
              <a:t>SNAPSHOTS </a:t>
            </a:r>
          </a:p>
        </p:txBody>
      </p:sp>
      <p:sp>
        <p:nvSpPr>
          <p:cNvPr name="TextBox 9" id="9"/>
          <p:cNvSpPr txBox="true"/>
          <p:nvPr/>
        </p:nvSpPr>
        <p:spPr>
          <a:xfrm rot="0">
            <a:off x="1405366" y="8860214"/>
            <a:ext cx="2358460" cy="264160"/>
          </a:xfrm>
          <a:prstGeom prst="rect">
            <a:avLst/>
          </a:prstGeom>
        </p:spPr>
        <p:txBody>
          <a:bodyPr anchor="t" rtlCol="false" tIns="0" lIns="0" bIns="0" rIns="0">
            <a:spAutoFit/>
          </a:bodyPr>
          <a:lstStyle/>
          <a:p>
            <a:pPr algn="r">
              <a:lnSpc>
                <a:spcPts val="2239"/>
              </a:lnSpc>
              <a:spcBef>
                <a:spcPct val="0"/>
              </a:spcBef>
            </a:pPr>
            <a:r>
              <a:rPr lang="en-US" b="true" sz="1599">
                <a:solidFill>
                  <a:srgbClr val="FFFFFF"/>
                </a:solidFill>
                <a:latin typeface="Open Sans Bold"/>
                <a:ea typeface="Open Sans Bold"/>
                <a:cs typeface="Open Sans Bold"/>
                <a:sym typeface="Open Sans Bold"/>
              </a:rPr>
              <a:t>GHOST_DEVELOPERS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6929196" y="8888789"/>
            <a:ext cx="641157" cy="641157"/>
          </a:xfrm>
          <a:custGeom>
            <a:avLst/>
            <a:gdLst/>
            <a:ahLst/>
            <a:cxnLst/>
            <a:rect r="r" b="b" t="t" l="l"/>
            <a:pathLst>
              <a:path h="641157" w="641157">
                <a:moveTo>
                  <a:pt x="0" y="0"/>
                </a:moveTo>
                <a:lnTo>
                  <a:pt x="641158" y="0"/>
                </a:lnTo>
                <a:lnTo>
                  <a:pt x="641158" y="641158"/>
                </a:lnTo>
                <a:lnTo>
                  <a:pt x="0" y="6411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5400000">
            <a:off x="8625107" y="-8625107"/>
            <a:ext cx="1028700" cy="18278914"/>
            <a:chOff x="0" y="0"/>
            <a:chExt cx="270933" cy="4814199"/>
          </a:xfrm>
        </p:grpSpPr>
        <p:sp>
          <p:nvSpPr>
            <p:cNvPr name="Freeform 4" id="4"/>
            <p:cNvSpPr/>
            <p:nvPr/>
          </p:nvSpPr>
          <p:spPr>
            <a:xfrm flipH="false" flipV="false" rot="0">
              <a:off x="0" y="0"/>
              <a:ext cx="270933" cy="4814200"/>
            </a:xfrm>
            <a:custGeom>
              <a:avLst/>
              <a:gdLst/>
              <a:ahLst/>
              <a:cxnLst/>
              <a:rect r="r" b="b" t="t" l="l"/>
              <a:pathLst>
                <a:path h="4814200" w="270933">
                  <a:moveTo>
                    <a:pt x="0" y="0"/>
                  </a:moveTo>
                  <a:lnTo>
                    <a:pt x="270933" y="0"/>
                  </a:lnTo>
                  <a:lnTo>
                    <a:pt x="270933" y="4814200"/>
                  </a:lnTo>
                  <a:lnTo>
                    <a:pt x="0" y="4814200"/>
                  </a:lnTo>
                  <a:close/>
                </a:path>
              </a:pathLst>
            </a:custGeom>
            <a:gradFill rotWithShape="true">
              <a:gsLst>
                <a:gs pos="0">
                  <a:srgbClr val="40DDDF">
                    <a:alpha val="100000"/>
                  </a:srgbClr>
                </a:gs>
                <a:gs pos="100000">
                  <a:srgbClr val="000000">
                    <a:alpha val="0"/>
                  </a:srgbClr>
                </a:gs>
              </a:gsLst>
              <a:lin ang="0"/>
            </a:gradFill>
          </p:spPr>
        </p:sp>
        <p:sp>
          <p:nvSpPr>
            <p:cNvPr name="TextBox 5" id="5"/>
            <p:cNvSpPr txBox="true"/>
            <p:nvPr/>
          </p:nvSpPr>
          <p:spPr>
            <a:xfrm>
              <a:off x="0" y="-38100"/>
              <a:ext cx="270933" cy="4852299"/>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028700" y="8783516"/>
            <a:ext cx="376666" cy="446131"/>
          </a:xfrm>
          <a:custGeom>
            <a:avLst/>
            <a:gdLst/>
            <a:ahLst/>
            <a:cxnLst/>
            <a:rect r="r" b="b" t="t" l="l"/>
            <a:pathLst>
              <a:path h="446131" w="376666">
                <a:moveTo>
                  <a:pt x="0" y="0"/>
                </a:moveTo>
                <a:lnTo>
                  <a:pt x="376666" y="0"/>
                </a:lnTo>
                <a:lnTo>
                  <a:pt x="376666" y="446131"/>
                </a:lnTo>
                <a:lnTo>
                  <a:pt x="0" y="4461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588405" y="2810533"/>
            <a:ext cx="15150113" cy="5302540"/>
          </a:xfrm>
          <a:custGeom>
            <a:avLst/>
            <a:gdLst/>
            <a:ahLst/>
            <a:cxnLst/>
            <a:rect r="r" b="b" t="t" l="l"/>
            <a:pathLst>
              <a:path h="5302540" w="15150113">
                <a:moveTo>
                  <a:pt x="0" y="0"/>
                </a:moveTo>
                <a:lnTo>
                  <a:pt x="15150114" y="0"/>
                </a:lnTo>
                <a:lnTo>
                  <a:pt x="15150114" y="5302539"/>
                </a:lnTo>
                <a:lnTo>
                  <a:pt x="0" y="5302539"/>
                </a:lnTo>
                <a:lnTo>
                  <a:pt x="0" y="0"/>
                </a:lnTo>
                <a:close/>
              </a:path>
            </a:pathLst>
          </a:custGeom>
          <a:blipFill>
            <a:blip r:embed="rId6"/>
            <a:stretch>
              <a:fillRect l="0" t="0" r="0" b="0"/>
            </a:stretch>
          </a:blipFill>
        </p:spPr>
      </p:sp>
      <p:sp>
        <p:nvSpPr>
          <p:cNvPr name="TextBox 8" id="8"/>
          <p:cNvSpPr txBox="true"/>
          <p:nvPr/>
        </p:nvSpPr>
        <p:spPr>
          <a:xfrm rot="0">
            <a:off x="1588405" y="1020928"/>
            <a:ext cx="6486788" cy="1013888"/>
          </a:xfrm>
          <a:prstGeom prst="rect">
            <a:avLst/>
          </a:prstGeom>
        </p:spPr>
        <p:txBody>
          <a:bodyPr anchor="t" rtlCol="false" tIns="0" lIns="0" bIns="0" rIns="0">
            <a:spAutoFit/>
          </a:bodyPr>
          <a:lstStyle/>
          <a:p>
            <a:pPr algn="l">
              <a:lnSpc>
                <a:spcPts val="7631"/>
              </a:lnSpc>
            </a:pPr>
            <a:r>
              <a:rPr lang="en-US" sz="7631">
                <a:solidFill>
                  <a:srgbClr val="40DDDF"/>
                </a:solidFill>
                <a:latin typeface="Montserrat"/>
                <a:ea typeface="Montserrat"/>
                <a:cs typeface="Montserrat"/>
                <a:sym typeface="Montserrat"/>
              </a:rPr>
              <a:t>SNAPSHOTS </a:t>
            </a:r>
          </a:p>
        </p:txBody>
      </p:sp>
      <p:sp>
        <p:nvSpPr>
          <p:cNvPr name="TextBox 9" id="9"/>
          <p:cNvSpPr txBox="true"/>
          <p:nvPr/>
        </p:nvSpPr>
        <p:spPr>
          <a:xfrm rot="0">
            <a:off x="1405366" y="8860214"/>
            <a:ext cx="2358460" cy="264160"/>
          </a:xfrm>
          <a:prstGeom prst="rect">
            <a:avLst/>
          </a:prstGeom>
        </p:spPr>
        <p:txBody>
          <a:bodyPr anchor="t" rtlCol="false" tIns="0" lIns="0" bIns="0" rIns="0">
            <a:spAutoFit/>
          </a:bodyPr>
          <a:lstStyle/>
          <a:p>
            <a:pPr algn="r">
              <a:lnSpc>
                <a:spcPts val="2239"/>
              </a:lnSpc>
              <a:spcBef>
                <a:spcPct val="0"/>
              </a:spcBef>
            </a:pPr>
            <a:r>
              <a:rPr lang="en-US" b="true" sz="1599">
                <a:solidFill>
                  <a:srgbClr val="FFFFFF"/>
                </a:solidFill>
                <a:latin typeface="Open Sans Bold"/>
                <a:ea typeface="Open Sans Bold"/>
                <a:cs typeface="Open Sans Bold"/>
                <a:sym typeface="Open Sans Bold"/>
              </a:rPr>
              <a:t>GHOST_DEVELOPERS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097" y="1032912"/>
            <a:ext cx="5166999" cy="6265447"/>
            <a:chOff x="0" y="0"/>
            <a:chExt cx="800503" cy="970682"/>
          </a:xfrm>
        </p:grpSpPr>
        <p:sp>
          <p:nvSpPr>
            <p:cNvPr name="Freeform 3" id="3"/>
            <p:cNvSpPr/>
            <p:nvPr/>
          </p:nvSpPr>
          <p:spPr>
            <a:xfrm flipH="false" flipV="false" rot="0">
              <a:off x="0" y="0"/>
              <a:ext cx="800503" cy="970682"/>
            </a:xfrm>
            <a:custGeom>
              <a:avLst/>
              <a:gdLst/>
              <a:ahLst/>
              <a:cxnLst/>
              <a:rect r="r" b="b" t="t" l="l"/>
              <a:pathLst>
                <a:path h="970682" w="800503">
                  <a:moveTo>
                    <a:pt x="29967" y="0"/>
                  </a:moveTo>
                  <a:lnTo>
                    <a:pt x="770537" y="0"/>
                  </a:lnTo>
                  <a:cubicBezTo>
                    <a:pt x="778484" y="0"/>
                    <a:pt x="786106" y="3157"/>
                    <a:pt x="791726" y="8777"/>
                  </a:cubicBezTo>
                  <a:cubicBezTo>
                    <a:pt x="797346" y="14397"/>
                    <a:pt x="800503" y="22019"/>
                    <a:pt x="800503" y="29967"/>
                  </a:cubicBezTo>
                  <a:lnTo>
                    <a:pt x="800503" y="940715"/>
                  </a:lnTo>
                  <a:cubicBezTo>
                    <a:pt x="800503" y="948663"/>
                    <a:pt x="797346" y="956285"/>
                    <a:pt x="791726" y="961905"/>
                  </a:cubicBezTo>
                  <a:cubicBezTo>
                    <a:pt x="786106" y="967525"/>
                    <a:pt x="778484" y="970682"/>
                    <a:pt x="770537" y="970682"/>
                  </a:cubicBezTo>
                  <a:lnTo>
                    <a:pt x="29967" y="970682"/>
                  </a:lnTo>
                  <a:cubicBezTo>
                    <a:pt x="22019" y="970682"/>
                    <a:pt x="14397" y="967525"/>
                    <a:pt x="8777" y="961905"/>
                  </a:cubicBezTo>
                  <a:cubicBezTo>
                    <a:pt x="3157" y="956285"/>
                    <a:pt x="0" y="948663"/>
                    <a:pt x="0" y="940715"/>
                  </a:cubicBezTo>
                  <a:lnTo>
                    <a:pt x="0" y="29967"/>
                  </a:lnTo>
                  <a:cubicBezTo>
                    <a:pt x="0" y="22019"/>
                    <a:pt x="3157" y="14397"/>
                    <a:pt x="8777" y="8777"/>
                  </a:cubicBezTo>
                  <a:cubicBezTo>
                    <a:pt x="14397" y="3157"/>
                    <a:pt x="22019" y="0"/>
                    <a:pt x="29967" y="0"/>
                  </a:cubicBezTo>
                  <a:close/>
                </a:path>
              </a:pathLst>
            </a:custGeom>
            <a:blipFill>
              <a:blip r:embed="rId2"/>
              <a:stretch>
                <a:fillRect l="-34304" t="0" r="-57031" b="0"/>
              </a:stretch>
            </a:blipFill>
          </p:spPr>
        </p:sp>
      </p:grpSp>
      <p:grpSp>
        <p:nvGrpSpPr>
          <p:cNvPr name="Group 4" id="4"/>
          <p:cNvGrpSpPr/>
          <p:nvPr/>
        </p:nvGrpSpPr>
        <p:grpSpPr>
          <a:xfrm rot="0">
            <a:off x="-68875" y="953596"/>
            <a:ext cx="1875921" cy="6344764"/>
            <a:chOff x="0" y="0"/>
            <a:chExt cx="494070" cy="1671049"/>
          </a:xfrm>
        </p:grpSpPr>
        <p:sp>
          <p:nvSpPr>
            <p:cNvPr name="Freeform 5" id="5"/>
            <p:cNvSpPr/>
            <p:nvPr/>
          </p:nvSpPr>
          <p:spPr>
            <a:xfrm flipH="false" flipV="false" rot="0">
              <a:off x="0" y="0"/>
              <a:ext cx="494070" cy="1671049"/>
            </a:xfrm>
            <a:custGeom>
              <a:avLst/>
              <a:gdLst/>
              <a:ahLst/>
              <a:cxnLst/>
              <a:rect r="r" b="b" t="t" l="l"/>
              <a:pathLst>
                <a:path h="1671049" w="494070">
                  <a:moveTo>
                    <a:pt x="0" y="0"/>
                  </a:moveTo>
                  <a:lnTo>
                    <a:pt x="494070" y="0"/>
                  </a:lnTo>
                  <a:lnTo>
                    <a:pt x="494070" y="1671049"/>
                  </a:lnTo>
                  <a:lnTo>
                    <a:pt x="0" y="1671049"/>
                  </a:lnTo>
                  <a:close/>
                </a:path>
              </a:pathLst>
            </a:custGeom>
            <a:gradFill rotWithShape="true">
              <a:gsLst>
                <a:gs pos="0">
                  <a:srgbClr val="000000">
                    <a:alpha val="100000"/>
                  </a:srgbClr>
                </a:gs>
                <a:gs pos="100000">
                  <a:srgbClr val="000000">
                    <a:alpha val="0"/>
                  </a:srgbClr>
                </a:gs>
              </a:gsLst>
              <a:lin ang="0"/>
            </a:gradFill>
          </p:spPr>
        </p:sp>
        <p:sp>
          <p:nvSpPr>
            <p:cNvPr name="TextBox 6" id="6"/>
            <p:cNvSpPr txBox="true"/>
            <p:nvPr/>
          </p:nvSpPr>
          <p:spPr>
            <a:xfrm>
              <a:off x="0" y="-38100"/>
              <a:ext cx="494070" cy="1709149"/>
            </a:xfrm>
            <a:prstGeom prst="rect">
              <a:avLst/>
            </a:prstGeom>
          </p:spPr>
          <p:txBody>
            <a:bodyPr anchor="ctr" rtlCol="false" tIns="50800" lIns="50800" bIns="50800" rIns="50800"/>
            <a:lstStyle/>
            <a:p>
              <a:pPr algn="ctr">
                <a:lnSpc>
                  <a:spcPts val="2659"/>
                </a:lnSpc>
                <a:spcBef>
                  <a:spcPct val="0"/>
                </a:spcBef>
              </a:pPr>
            </a:p>
          </p:txBody>
        </p:sp>
      </p:grpSp>
      <p:sp>
        <p:nvSpPr>
          <p:cNvPr name="TextBox 7" id="7"/>
          <p:cNvSpPr txBox="true"/>
          <p:nvPr/>
        </p:nvSpPr>
        <p:spPr>
          <a:xfrm rot="0">
            <a:off x="7337739" y="7540263"/>
            <a:ext cx="7328723" cy="1466319"/>
          </a:xfrm>
          <a:prstGeom prst="rect">
            <a:avLst/>
          </a:prstGeom>
        </p:spPr>
        <p:txBody>
          <a:bodyPr anchor="t" rtlCol="false" tIns="0" lIns="0" bIns="0" rIns="0">
            <a:spAutoFit/>
          </a:bodyPr>
          <a:lstStyle/>
          <a:p>
            <a:pPr algn="l">
              <a:lnSpc>
                <a:spcPts val="5690"/>
              </a:lnSpc>
            </a:pPr>
            <a:r>
              <a:rPr lang="en-US" sz="5690">
                <a:solidFill>
                  <a:srgbClr val="40DDDF"/>
                </a:solidFill>
                <a:latin typeface="Montserrat"/>
                <a:ea typeface="Montserrat"/>
                <a:cs typeface="Montserrat"/>
                <a:sym typeface="Montserrat"/>
              </a:rPr>
              <a:t>STATIC ANALYSIS &amp; SOME STATISTICS</a:t>
            </a:r>
          </a:p>
        </p:txBody>
      </p:sp>
      <p:sp>
        <p:nvSpPr>
          <p:cNvPr name="Freeform 8" id="8"/>
          <p:cNvSpPr/>
          <p:nvPr/>
        </p:nvSpPr>
        <p:spPr>
          <a:xfrm flipH="false" flipV="false" rot="0">
            <a:off x="16618143" y="8617143"/>
            <a:ext cx="641157" cy="641157"/>
          </a:xfrm>
          <a:custGeom>
            <a:avLst/>
            <a:gdLst/>
            <a:ahLst/>
            <a:cxnLst/>
            <a:rect r="r" b="b" t="t" l="l"/>
            <a:pathLst>
              <a:path h="641157" w="641157">
                <a:moveTo>
                  <a:pt x="0" y="0"/>
                </a:moveTo>
                <a:lnTo>
                  <a:pt x="641157" y="0"/>
                </a:lnTo>
                <a:lnTo>
                  <a:pt x="641157" y="641157"/>
                </a:lnTo>
                <a:lnTo>
                  <a:pt x="0" y="6411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9" id="9"/>
          <p:cNvGrpSpPr/>
          <p:nvPr/>
        </p:nvGrpSpPr>
        <p:grpSpPr>
          <a:xfrm rot="-10800000">
            <a:off x="18240375" y="0"/>
            <a:ext cx="47625" cy="10287000"/>
            <a:chOff x="0" y="0"/>
            <a:chExt cx="12543" cy="2709333"/>
          </a:xfrm>
        </p:grpSpPr>
        <p:sp>
          <p:nvSpPr>
            <p:cNvPr name="Freeform 10" id="10"/>
            <p:cNvSpPr/>
            <p:nvPr/>
          </p:nvSpPr>
          <p:spPr>
            <a:xfrm flipH="false" flipV="false" rot="0">
              <a:off x="0" y="0"/>
              <a:ext cx="12543" cy="2709333"/>
            </a:xfrm>
            <a:custGeom>
              <a:avLst/>
              <a:gdLst/>
              <a:ahLst/>
              <a:cxnLst/>
              <a:rect r="r" b="b" t="t" l="l"/>
              <a:pathLst>
                <a:path h="2709333" w="12543">
                  <a:moveTo>
                    <a:pt x="0" y="0"/>
                  </a:moveTo>
                  <a:lnTo>
                    <a:pt x="12543" y="0"/>
                  </a:lnTo>
                  <a:lnTo>
                    <a:pt x="12543" y="2709333"/>
                  </a:lnTo>
                  <a:lnTo>
                    <a:pt x="0" y="2709333"/>
                  </a:lnTo>
                  <a:close/>
                </a:path>
              </a:pathLst>
            </a:custGeom>
            <a:gradFill rotWithShape="true">
              <a:gsLst>
                <a:gs pos="0">
                  <a:srgbClr val="40DDDF">
                    <a:alpha val="100000"/>
                  </a:srgbClr>
                </a:gs>
                <a:gs pos="100000">
                  <a:srgbClr val="000000">
                    <a:alpha val="0"/>
                  </a:srgbClr>
                </a:gs>
              </a:gsLst>
              <a:lin ang="0"/>
            </a:gradFill>
          </p:spPr>
        </p:sp>
        <p:sp>
          <p:nvSpPr>
            <p:cNvPr name="TextBox 11" id="11"/>
            <p:cNvSpPr txBox="true"/>
            <p:nvPr/>
          </p:nvSpPr>
          <p:spPr>
            <a:xfrm>
              <a:off x="0" y="-38100"/>
              <a:ext cx="12543"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1028700" y="8783516"/>
            <a:ext cx="376666" cy="446131"/>
          </a:xfrm>
          <a:custGeom>
            <a:avLst/>
            <a:gdLst/>
            <a:ahLst/>
            <a:cxnLst/>
            <a:rect r="r" b="b" t="t" l="l"/>
            <a:pathLst>
              <a:path h="446131" w="376666">
                <a:moveTo>
                  <a:pt x="0" y="0"/>
                </a:moveTo>
                <a:lnTo>
                  <a:pt x="376666" y="0"/>
                </a:lnTo>
                <a:lnTo>
                  <a:pt x="376666" y="446131"/>
                </a:lnTo>
                <a:lnTo>
                  <a:pt x="0" y="44613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3" id="13"/>
          <p:cNvSpPr txBox="true"/>
          <p:nvPr/>
        </p:nvSpPr>
        <p:spPr>
          <a:xfrm rot="0">
            <a:off x="1405366" y="8860214"/>
            <a:ext cx="2358460" cy="264160"/>
          </a:xfrm>
          <a:prstGeom prst="rect">
            <a:avLst/>
          </a:prstGeom>
        </p:spPr>
        <p:txBody>
          <a:bodyPr anchor="t" rtlCol="false" tIns="0" lIns="0" bIns="0" rIns="0">
            <a:spAutoFit/>
          </a:bodyPr>
          <a:lstStyle/>
          <a:p>
            <a:pPr algn="r">
              <a:lnSpc>
                <a:spcPts val="2239"/>
              </a:lnSpc>
              <a:spcBef>
                <a:spcPct val="0"/>
              </a:spcBef>
            </a:pPr>
            <a:r>
              <a:rPr lang="en-US" b="true" sz="1599">
                <a:solidFill>
                  <a:srgbClr val="FFFFFF"/>
                </a:solidFill>
                <a:latin typeface="Open Sans Bold"/>
                <a:ea typeface="Open Sans Bold"/>
                <a:cs typeface="Open Sans Bold"/>
                <a:sym typeface="Open Sans Bold"/>
              </a:rPr>
              <a:t>GHOST_DEVELOPERS</a:t>
            </a:r>
          </a:p>
        </p:txBody>
      </p:sp>
      <p:grpSp>
        <p:nvGrpSpPr>
          <p:cNvPr name="Group 14" id="14"/>
          <p:cNvGrpSpPr/>
          <p:nvPr/>
        </p:nvGrpSpPr>
        <p:grpSpPr>
          <a:xfrm rot="0">
            <a:off x="7069264" y="1032912"/>
            <a:ext cx="8130768" cy="5645768"/>
            <a:chOff x="0" y="0"/>
            <a:chExt cx="2141437" cy="1486951"/>
          </a:xfrm>
        </p:grpSpPr>
        <p:sp>
          <p:nvSpPr>
            <p:cNvPr name="Freeform 15" id="15"/>
            <p:cNvSpPr/>
            <p:nvPr/>
          </p:nvSpPr>
          <p:spPr>
            <a:xfrm flipH="false" flipV="false" rot="0">
              <a:off x="0" y="0"/>
              <a:ext cx="2141437" cy="1486951"/>
            </a:xfrm>
            <a:custGeom>
              <a:avLst/>
              <a:gdLst/>
              <a:ahLst/>
              <a:cxnLst/>
              <a:rect r="r" b="b" t="t" l="l"/>
              <a:pathLst>
                <a:path h="1486951" w="2141437">
                  <a:moveTo>
                    <a:pt x="19044" y="0"/>
                  </a:moveTo>
                  <a:lnTo>
                    <a:pt x="2122393" y="0"/>
                  </a:lnTo>
                  <a:cubicBezTo>
                    <a:pt x="2127444" y="0"/>
                    <a:pt x="2132288" y="2006"/>
                    <a:pt x="2135859" y="5578"/>
                  </a:cubicBezTo>
                  <a:cubicBezTo>
                    <a:pt x="2139430" y="9149"/>
                    <a:pt x="2141437" y="13993"/>
                    <a:pt x="2141437" y="19044"/>
                  </a:cubicBezTo>
                  <a:lnTo>
                    <a:pt x="2141437" y="1467908"/>
                  </a:lnTo>
                  <a:cubicBezTo>
                    <a:pt x="2141437" y="1472958"/>
                    <a:pt x="2139430" y="1477802"/>
                    <a:pt x="2135859" y="1481374"/>
                  </a:cubicBezTo>
                  <a:cubicBezTo>
                    <a:pt x="2132288" y="1484945"/>
                    <a:pt x="2127444" y="1486951"/>
                    <a:pt x="2122393" y="1486951"/>
                  </a:cubicBezTo>
                  <a:lnTo>
                    <a:pt x="19044" y="1486951"/>
                  </a:lnTo>
                  <a:cubicBezTo>
                    <a:pt x="13993" y="1486951"/>
                    <a:pt x="9149" y="1484945"/>
                    <a:pt x="5578" y="1481374"/>
                  </a:cubicBezTo>
                  <a:cubicBezTo>
                    <a:pt x="2006" y="1477802"/>
                    <a:pt x="0" y="1472958"/>
                    <a:pt x="0" y="1467908"/>
                  </a:cubicBezTo>
                  <a:lnTo>
                    <a:pt x="0" y="19044"/>
                  </a:lnTo>
                  <a:cubicBezTo>
                    <a:pt x="0" y="13993"/>
                    <a:pt x="2006" y="9149"/>
                    <a:pt x="5578" y="5578"/>
                  </a:cubicBezTo>
                  <a:cubicBezTo>
                    <a:pt x="9149" y="2006"/>
                    <a:pt x="13993" y="0"/>
                    <a:pt x="19044" y="0"/>
                  </a:cubicBezTo>
                  <a:close/>
                </a:path>
              </a:pathLst>
            </a:custGeom>
            <a:solidFill>
              <a:srgbClr val="000000"/>
            </a:solidFill>
            <a:ln w="19050" cap="sq">
              <a:solidFill>
                <a:srgbClr val="40DDDF"/>
              </a:solidFill>
              <a:prstDash val="solid"/>
              <a:miter/>
            </a:ln>
          </p:spPr>
        </p:sp>
        <p:sp>
          <p:nvSpPr>
            <p:cNvPr name="TextBox 16" id="16"/>
            <p:cNvSpPr txBox="true"/>
            <p:nvPr/>
          </p:nvSpPr>
          <p:spPr>
            <a:xfrm>
              <a:off x="0" y="-38100"/>
              <a:ext cx="2141437" cy="1525051"/>
            </a:xfrm>
            <a:prstGeom prst="rect">
              <a:avLst/>
            </a:prstGeom>
          </p:spPr>
          <p:txBody>
            <a:bodyPr anchor="ctr" rtlCol="false" tIns="50800" lIns="50800" bIns="50800" rIns="50800"/>
            <a:lstStyle/>
            <a:p>
              <a:pPr algn="ctr">
                <a:lnSpc>
                  <a:spcPts val="3359"/>
                </a:lnSpc>
              </a:pPr>
            </a:p>
          </p:txBody>
        </p:sp>
      </p:grpSp>
      <p:sp>
        <p:nvSpPr>
          <p:cNvPr name="TextBox 17" id="17"/>
          <p:cNvSpPr txBox="true"/>
          <p:nvPr/>
        </p:nvSpPr>
        <p:spPr>
          <a:xfrm rot="0">
            <a:off x="7667391" y="1345323"/>
            <a:ext cx="6934515" cy="3574251"/>
          </a:xfrm>
          <a:prstGeom prst="rect">
            <a:avLst/>
          </a:prstGeom>
        </p:spPr>
        <p:txBody>
          <a:bodyPr anchor="t" rtlCol="false" tIns="0" lIns="0" bIns="0" rIns="0">
            <a:spAutoFit/>
          </a:bodyPr>
          <a:lstStyle/>
          <a:p>
            <a:pPr algn="l">
              <a:lnSpc>
                <a:spcPts val="4069"/>
              </a:lnSpc>
            </a:pPr>
            <a:r>
              <a:rPr lang="en-US" sz="2906">
                <a:solidFill>
                  <a:srgbClr val="FFFFFF"/>
                </a:solidFill>
                <a:latin typeface="Open Sans"/>
                <a:ea typeface="Open Sans"/>
                <a:cs typeface="Open Sans"/>
                <a:sym typeface="Open Sans"/>
              </a:rPr>
              <a:t>Static Analysis on top Financial Apps-</a:t>
            </a:r>
          </a:p>
          <a:p>
            <a:pPr algn="l">
              <a:lnSpc>
                <a:spcPts val="4069"/>
              </a:lnSpc>
            </a:pPr>
            <a:r>
              <a:rPr lang="en-US" sz="2906">
                <a:solidFill>
                  <a:srgbClr val="FFFFFF"/>
                </a:solidFill>
                <a:latin typeface="Open Sans"/>
                <a:ea typeface="Open Sans"/>
                <a:cs typeface="Open Sans"/>
                <a:sym typeface="Open Sans"/>
              </a:rPr>
              <a:t> Criteria</a:t>
            </a:r>
          </a:p>
          <a:p>
            <a:pPr algn="l" marL="627505" indent="-313752" lvl="1">
              <a:lnSpc>
                <a:spcPts val="4069"/>
              </a:lnSpc>
              <a:buFont typeface="Arial"/>
              <a:buChar char="•"/>
            </a:pPr>
            <a:r>
              <a:rPr lang="en-US" sz="2906">
                <a:solidFill>
                  <a:srgbClr val="FFFFFF"/>
                </a:solidFill>
                <a:latin typeface="Open Sans"/>
                <a:ea typeface="Open Sans"/>
                <a:cs typeface="Open Sans"/>
                <a:sym typeface="Open Sans"/>
              </a:rPr>
              <a:t> SSL bypass in Native Code</a:t>
            </a:r>
          </a:p>
          <a:p>
            <a:pPr algn="l" marL="627505" indent="-313752" lvl="1">
              <a:lnSpc>
                <a:spcPts val="4069"/>
              </a:lnSpc>
              <a:buFont typeface="Arial"/>
              <a:buChar char="•"/>
            </a:pPr>
            <a:r>
              <a:rPr lang="en-US" sz="2906">
                <a:solidFill>
                  <a:srgbClr val="FFFFFF"/>
                </a:solidFill>
                <a:latin typeface="Open Sans"/>
                <a:ea typeface="Open Sans"/>
                <a:cs typeface="Open Sans"/>
                <a:sym typeface="Open Sans"/>
              </a:rPr>
              <a:t>SSL bypass in WebView</a:t>
            </a:r>
          </a:p>
          <a:p>
            <a:pPr algn="l" marL="627505" indent="-313752" lvl="1">
              <a:lnSpc>
                <a:spcPts val="4069"/>
              </a:lnSpc>
              <a:buFont typeface="Arial"/>
              <a:buChar char="•"/>
            </a:pPr>
            <a:r>
              <a:rPr lang="en-US" sz="2906">
                <a:solidFill>
                  <a:srgbClr val="FFFFFF"/>
                </a:solidFill>
                <a:latin typeface="Open Sans"/>
                <a:ea typeface="Open Sans"/>
                <a:cs typeface="Open Sans"/>
                <a:sym typeface="Open Sans"/>
              </a:rPr>
              <a:t>Weak Crypto</a:t>
            </a:r>
          </a:p>
          <a:p>
            <a:pPr algn="l" marL="627505" indent="-313752" lvl="1">
              <a:lnSpc>
                <a:spcPts val="4069"/>
              </a:lnSpc>
              <a:buFont typeface="Arial"/>
              <a:buChar char="•"/>
            </a:pPr>
            <a:r>
              <a:rPr lang="en-US" sz="2906">
                <a:solidFill>
                  <a:srgbClr val="FFFFFF"/>
                </a:solidFill>
                <a:latin typeface="Open Sans"/>
                <a:ea typeface="Open Sans"/>
                <a:cs typeface="Open Sans"/>
                <a:sym typeface="Open Sans"/>
              </a:rPr>
              <a:t>Remote Web View Debugging</a:t>
            </a:r>
          </a:p>
          <a:p>
            <a:pPr algn="l" marL="627505" indent="-313752" lvl="1">
              <a:lnSpc>
                <a:spcPts val="4069"/>
              </a:lnSpc>
              <a:buFont typeface="Arial"/>
              <a:buChar char="•"/>
            </a:pPr>
            <a:r>
              <a:rPr lang="en-US" sz="2906">
                <a:solidFill>
                  <a:srgbClr val="FFFFFF"/>
                </a:solidFill>
                <a:latin typeface="Open Sans"/>
                <a:ea typeface="Open Sans"/>
                <a:cs typeface="Open Sans"/>
                <a:sym typeface="Open Sans"/>
              </a:rPr>
              <a:t>Hardcoded Secrets   </a:t>
            </a:r>
          </a:p>
        </p:txBody>
      </p:sp>
      <p:grpSp>
        <p:nvGrpSpPr>
          <p:cNvPr name="Group 18" id="18"/>
          <p:cNvGrpSpPr/>
          <p:nvPr/>
        </p:nvGrpSpPr>
        <p:grpSpPr>
          <a:xfrm rot="5400000">
            <a:off x="10438174" y="-3368910"/>
            <a:ext cx="1392948" cy="8130768"/>
            <a:chOff x="0" y="0"/>
            <a:chExt cx="366867" cy="2141437"/>
          </a:xfrm>
        </p:grpSpPr>
        <p:sp>
          <p:nvSpPr>
            <p:cNvPr name="Freeform 19" id="19"/>
            <p:cNvSpPr/>
            <p:nvPr/>
          </p:nvSpPr>
          <p:spPr>
            <a:xfrm flipH="false" flipV="false" rot="0">
              <a:off x="0" y="0"/>
              <a:ext cx="366867" cy="2141437"/>
            </a:xfrm>
            <a:custGeom>
              <a:avLst/>
              <a:gdLst/>
              <a:ahLst/>
              <a:cxnLst/>
              <a:rect r="r" b="b" t="t" l="l"/>
              <a:pathLst>
                <a:path h="2141437" w="366867">
                  <a:moveTo>
                    <a:pt x="0" y="0"/>
                  </a:moveTo>
                  <a:lnTo>
                    <a:pt x="366867" y="0"/>
                  </a:lnTo>
                  <a:lnTo>
                    <a:pt x="366867" y="2141437"/>
                  </a:lnTo>
                  <a:lnTo>
                    <a:pt x="0" y="2141437"/>
                  </a:lnTo>
                  <a:close/>
                </a:path>
              </a:pathLst>
            </a:custGeom>
            <a:gradFill rotWithShape="true">
              <a:gsLst>
                <a:gs pos="0">
                  <a:srgbClr val="40DDDF">
                    <a:alpha val="100000"/>
                  </a:srgbClr>
                </a:gs>
                <a:gs pos="100000">
                  <a:srgbClr val="000000">
                    <a:alpha val="0"/>
                  </a:srgbClr>
                </a:gs>
              </a:gsLst>
              <a:lin ang="0"/>
            </a:gradFill>
          </p:spPr>
        </p:sp>
        <p:sp>
          <p:nvSpPr>
            <p:cNvPr name="TextBox 20" id="20"/>
            <p:cNvSpPr txBox="true"/>
            <p:nvPr/>
          </p:nvSpPr>
          <p:spPr>
            <a:xfrm>
              <a:off x="0" y="-38100"/>
              <a:ext cx="366867" cy="2179537"/>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3119149" y="1028700"/>
            <a:ext cx="4932622" cy="3724597"/>
            <a:chOff x="0" y="0"/>
            <a:chExt cx="764192" cy="577038"/>
          </a:xfrm>
        </p:grpSpPr>
        <p:sp>
          <p:nvSpPr>
            <p:cNvPr name="Freeform 3" id="3"/>
            <p:cNvSpPr/>
            <p:nvPr/>
          </p:nvSpPr>
          <p:spPr>
            <a:xfrm flipH="false" flipV="false" rot="0">
              <a:off x="0" y="0"/>
              <a:ext cx="764192" cy="577038"/>
            </a:xfrm>
            <a:custGeom>
              <a:avLst/>
              <a:gdLst/>
              <a:ahLst/>
              <a:cxnLst/>
              <a:rect r="r" b="b" t="t" l="l"/>
              <a:pathLst>
                <a:path h="577038" w="764192">
                  <a:moveTo>
                    <a:pt x="0" y="0"/>
                  </a:moveTo>
                  <a:lnTo>
                    <a:pt x="764192" y="0"/>
                  </a:lnTo>
                  <a:lnTo>
                    <a:pt x="764192" y="577038"/>
                  </a:lnTo>
                  <a:lnTo>
                    <a:pt x="0" y="577038"/>
                  </a:lnTo>
                  <a:close/>
                </a:path>
              </a:pathLst>
            </a:custGeom>
            <a:blipFill>
              <a:blip r:embed="rId2"/>
              <a:stretch>
                <a:fillRect l="-6667" t="0" r="-6667" b="0"/>
              </a:stretch>
            </a:blipFill>
          </p:spPr>
        </p:sp>
      </p:grpSp>
      <p:grpSp>
        <p:nvGrpSpPr>
          <p:cNvPr name="Group 4" id="4"/>
          <p:cNvGrpSpPr/>
          <p:nvPr/>
        </p:nvGrpSpPr>
        <p:grpSpPr>
          <a:xfrm rot="0">
            <a:off x="13100954" y="964059"/>
            <a:ext cx="4148821" cy="6375965"/>
            <a:chOff x="0" y="0"/>
            <a:chExt cx="1092694" cy="1679266"/>
          </a:xfrm>
        </p:grpSpPr>
        <p:sp>
          <p:nvSpPr>
            <p:cNvPr name="Freeform 5" id="5"/>
            <p:cNvSpPr/>
            <p:nvPr/>
          </p:nvSpPr>
          <p:spPr>
            <a:xfrm flipH="false" flipV="false" rot="0">
              <a:off x="0" y="0"/>
              <a:ext cx="1092694" cy="1679266"/>
            </a:xfrm>
            <a:custGeom>
              <a:avLst/>
              <a:gdLst/>
              <a:ahLst/>
              <a:cxnLst/>
              <a:rect r="r" b="b" t="t" l="l"/>
              <a:pathLst>
                <a:path h="1679266" w="1092694">
                  <a:moveTo>
                    <a:pt x="0" y="0"/>
                  </a:moveTo>
                  <a:lnTo>
                    <a:pt x="1092694" y="0"/>
                  </a:lnTo>
                  <a:lnTo>
                    <a:pt x="1092694" y="1679266"/>
                  </a:lnTo>
                  <a:lnTo>
                    <a:pt x="0" y="1679266"/>
                  </a:lnTo>
                  <a:close/>
                </a:path>
              </a:pathLst>
            </a:custGeom>
            <a:gradFill rotWithShape="true">
              <a:gsLst>
                <a:gs pos="0">
                  <a:srgbClr val="000000">
                    <a:alpha val="100000"/>
                  </a:srgbClr>
                </a:gs>
                <a:gs pos="100000">
                  <a:srgbClr val="000000">
                    <a:alpha val="0"/>
                  </a:srgbClr>
                </a:gs>
              </a:gsLst>
              <a:lin ang="0"/>
            </a:gradFill>
          </p:spPr>
        </p:sp>
        <p:sp>
          <p:nvSpPr>
            <p:cNvPr name="TextBox 6" id="6"/>
            <p:cNvSpPr txBox="true"/>
            <p:nvPr/>
          </p:nvSpPr>
          <p:spPr>
            <a:xfrm>
              <a:off x="0" y="-38100"/>
              <a:ext cx="1092694" cy="1717366"/>
            </a:xfrm>
            <a:prstGeom prst="rect">
              <a:avLst/>
            </a:prstGeom>
          </p:spPr>
          <p:txBody>
            <a:bodyPr anchor="ctr" rtlCol="false" tIns="50800" lIns="50800" bIns="50800" rIns="50800"/>
            <a:lstStyle/>
            <a:p>
              <a:pPr algn="ctr">
                <a:lnSpc>
                  <a:spcPts val="2659"/>
                </a:lnSpc>
                <a:spcBef>
                  <a:spcPct val="0"/>
                </a:spcBef>
              </a:pPr>
            </a:p>
          </p:txBody>
        </p:sp>
      </p:grpSp>
      <p:sp>
        <p:nvSpPr>
          <p:cNvPr name="TextBox 7" id="7"/>
          <p:cNvSpPr txBox="true"/>
          <p:nvPr/>
        </p:nvSpPr>
        <p:spPr>
          <a:xfrm rot="0">
            <a:off x="1588405" y="1200150"/>
            <a:ext cx="10096086" cy="2296010"/>
          </a:xfrm>
          <a:prstGeom prst="rect">
            <a:avLst/>
          </a:prstGeom>
        </p:spPr>
        <p:txBody>
          <a:bodyPr anchor="t" rtlCol="false" tIns="0" lIns="0" bIns="0" rIns="0">
            <a:spAutoFit/>
          </a:bodyPr>
          <a:lstStyle/>
          <a:p>
            <a:pPr algn="l">
              <a:lnSpc>
                <a:spcPts val="8883"/>
              </a:lnSpc>
            </a:pPr>
            <a:r>
              <a:rPr lang="en-US" sz="8883">
                <a:solidFill>
                  <a:srgbClr val="40DDDF"/>
                </a:solidFill>
                <a:latin typeface="Montserrat"/>
                <a:ea typeface="Montserrat"/>
                <a:cs typeface="Montserrat"/>
                <a:sym typeface="Montserrat"/>
              </a:rPr>
              <a:t>BENCHMARK ANALYSIS</a:t>
            </a:r>
          </a:p>
        </p:txBody>
      </p:sp>
      <p:sp>
        <p:nvSpPr>
          <p:cNvPr name="Freeform 8" id="8"/>
          <p:cNvSpPr/>
          <p:nvPr/>
        </p:nvSpPr>
        <p:spPr>
          <a:xfrm flipH="false" flipV="false" rot="0">
            <a:off x="16929196" y="8888789"/>
            <a:ext cx="641157" cy="641157"/>
          </a:xfrm>
          <a:custGeom>
            <a:avLst/>
            <a:gdLst/>
            <a:ahLst/>
            <a:cxnLst/>
            <a:rect r="r" b="b" t="t" l="l"/>
            <a:pathLst>
              <a:path h="641157" w="641157">
                <a:moveTo>
                  <a:pt x="0" y="0"/>
                </a:moveTo>
                <a:lnTo>
                  <a:pt x="641158" y="0"/>
                </a:lnTo>
                <a:lnTo>
                  <a:pt x="641158" y="641158"/>
                </a:lnTo>
                <a:lnTo>
                  <a:pt x="0" y="6411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9" id="9"/>
          <p:cNvGrpSpPr/>
          <p:nvPr/>
        </p:nvGrpSpPr>
        <p:grpSpPr>
          <a:xfrm rot="5400000">
            <a:off x="8625107" y="-8625107"/>
            <a:ext cx="1028700" cy="18278914"/>
            <a:chOff x="0" y="0"/>
            <a:chExt cx="270933" cy="4814199"/>
          </a:xfrm>
        </p:grpSpPr>
        <p:sp>
          <p:nvSpPr>
            <p:cNvPr name="Freeform 10" id="10"/>
            <p:cNvSpPr/>
            <p:nvPr/>
          </p:nvSpPr>
          <p:spPr>
            <a:xfrm flipH="false" flipV="false" rot="0">
              <a:off x="0" y="0"/>
              <a:ext cx="270933" cy="4814200"/>
            </a:xfrm>
            <a:custGeom>
              <a:avLst/>
              <a:gdLst/>
              <a:ahLst/>
              <a:cxnLst/>
              <a:rect r="r" b="b" t="t" l="l"/>
              <a:pathLst>
                <a:path h="4814200" w="270933">
                  <a:moveTo>
                    <a:pt x="0" y="0"/>
                  </a:moveTo>
                  <a:lnTo>
                    <a:pt x="270933" y="0"/>
                  </a:lnTo>
                  <a:lnTo>
                    <a:pt x="270933" y="4814200"/>
                  </a:lnTo>
                  <a:lnTo>
                    <a:pt x="0" y="4814200"/>
                  </a:lnTo>
                  <a:close/>
                </a:path>
              </a:pathLst>
            </a:custGeom>
            <a:gradFill rotWithShape="true">
              <a:gsLst>
                <a:gs pos="0">
                  <a:srgbClr val="40DDDF">
                    <a:alpha val="100000"/>
                  </a:srgbClr>
                </a:gs>
                <a:gs pos="100000">
                  <a:srgbClr val="000000">
                    <a:alpha val="0"/>
                  </a:srgbClr>
                </a:gs>
              </a:gsLst>
              <a:lin ang="0"/>
            </a:gradFill>
          </p:spPr>
        </p:sp>
        <p:sp>
          <p:nvSpPr>
            <p:cNvPr name="TextBox 11" id="11"/>
            <p:cNvSpPr txBox="true"/>
            <p:nvPr/>
          </p:nvSpPr>
          <p:spPr>
            <a:xfrm>
              <a:off x="0" y="-38100"/>
              <a:ext cx="270933" cy="4852299"/>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1028700" y="8783516"/>
            <a:ext cx="376666" cy="446131"/>
          </a:xfrm>
          <a:custGeom>
            <a:avLst/>
            <a:gdLst/>
            <a:ahLst/>
            <a:cxnLst/>
            <a:rect r="r" b="b" t="t" l="l"/>
            <a:pathLst>
              <a:path h="446131" w="376666">
                <a:moveTo>
                  <a:pt x="0" y="0"/>
                </a:moveTo>
                <a:lnTo>
                  <a:pt x="376666" y="0"/>
                </a:lnTo>
                <a:lnTo>
                  <a:pt x="376666" y="446131"/>
                </a:lnTo>
                <a:lnTo>
                  <a:pt x="0" y="44613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3" id="13"/>
          <p:cNvSpPr/>
          <p:nvPr/>
        </p:nvSpPr>
        <p:spPr>
          <a:xfrm flipH="false" flipV="false" rot="0">
            <a:off x="265326" y="4753297"/>
            <a:ext cx="17786446" cy="3264204"/>
          </a:xfrm>
          <a:custGeom>
            <a:avLst/>
            <a:gdLst/>
            <a:ahLst/>
            <a:cxnLst/>
            <a:rect r="r" b="b" t="t" l="l"/>
            <a:pathLst>
              <a:path h="3264204" w="17786446">
                <a:moveTo>
                  <a:pt x="0" y="0"/>
                </a:moveTo>
                <a:lnTo>
                  <a:pt x="17786445" y="0"/>
                </a:lnTo>
                <a:lnTo>
                  <a:pt x="17786445" y="3264204"/>
                </a:lnTo>
                <a:lnTo>
                  <a:pt x="0" y="3264204"/>
                </a:lnTo>
                <a:lnTo>
                  <a:pt x="0" y="0"/>
                </a:lnTo>
                <a:close/>
              </a:path>
            </a:pathLst>
          </a:custGeom>
          <a:blipFill>
            <a:blip r:embed="rId7"/>
            <a:stretch>
              <a:fillRect l="-14872" t="-15620" r="0" b="-1741"/>
            </a:stretch>
          </a:blipFill>
        </p:spPr>
      </p:sp>
      <p:sp>
        <p:nvSpPr>
          <p:cNvPr name="TextBox 14" id="14"/>
          <p:cNvSpPr txBox="true"/>
          <p:nvPr/>
        </p:nvSpPr>
        <p:spPr>
          <a:xfrm rot="0">
            <a:off x="1405366" y="8860214"/>
            <a:ext cx="2358460" cy="264160"/>
          </a:xfrm>
          <a:prstGeom prst="rect">
            <a:avLst/>
          </a:prstGeom>
        </p:spPr>
        <p:txBody>
          <a:bodyPr anchor="t" rtlCol="false" tIns="0" lIns="0" bIns="0" rIns="0">
            <a:spAutoFit/>
          </a:bodyPr>
          <a:lstStyle/>
          <a:p>
            <a:pPr algn="r">
              <a:lnSpc>
                <a:spcPts val="2239"/>
              </a:lnSpc>
              <a:spcBef>
                <a:spcPct val="0"/>
              </a:spcBef>
            </a:pPr>
            <a:r>
              <a:rPr lang="en-US" b="true" sz="1599">
                <a:solidFill>
                  <a:srgbClr val="FFFFFF"/>
                </a:solidFill>
                <a:latin typeface="Open Sans Bold"/>
                <a:ea typeface="Open Sans Bold"/>
                <a:cs typeface="Open Sans Bold"/>
                <a:sym typeface="Open Sans Bold"/>
              </a:rPr>
              <a:t>GHOST_DEVELOPERS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862229" y="628509"/>
            <a:ext cx="10141983" cy="3870562"/>
            <a:chOff x="0" y="0"/>
            <a:chExt cx="3198509" cy="1220671"/>
          </a:xfrm>
        </p:grpSpPr>
        <p:sp>
          <p:nvSpPr>
            <p:cNvPr name="Freeform 3" id="3"/>
            <p:cNvSpPr/>
            <p:nvPr/>
          </p:nvSpPr>
          <p:spPr>
            <a:xfrm flipH="false" flipV="false" rot="0">
              <a:off x="0" y="0"/>
              <a:ext cx="3198509" cy="1220671"/>
            </a:xfrm>
            <a:custGeom>
              <a:avLst/>
              <a:gdLst/>
              <a:ahLst/>
              <a:cxnLst/>
              <a:rect r="r" b="b" t="t" l="l"/>
              <a:pathLst>
                <a:path h="1220671" w="3198509">
                  <a:moveTo>
                    <a:pt x="15267" y="0"/>
                  </a:moveTo>
                  <a:lnTo>
                    <a:pt x="3183242" y="0"/>
                  </a:lnTo>
                  <a:cubicBezTo>
                    <a:pt x="3191673" y="0"/>
                    <a:pt x="3198509" y="6835"/>
                    <a:pt x="3198509" y="15267"/>
                  </a:cubicBezTo>
                  <a:lnTo>
                    <a:pt x="3198509" y="1205404"/>
                  </a:lnTo>
                  <a:cubicBezTo>
                    <a:pt x="3198509" y="1213836"/>
                    <a:pt x="3191673" y="1220671"/>
                    <a:pt x="3183242" y="1220671"/>
                  </a:cubicBezTo>
                  <a:lnTo>
                    <a:pt x="15267" y="1220671"/>
                  </a:lnTo>
                  <a:cubicBezTo>
                    <a:pt x="6835" y="1220671"/>
                    <a:pt x="0" y="1213836"/>
                    <a:pt x="0" y="1205404"/>
                  </a:cubicBezTo>
                  <a:lnTo>
                    <a:pt x="0" y="15267"/>
                  </a:lnTo>
                  <a:cubicBezTo>
                    <a:pt x="0" y="6835"/>
                    <a:pt x="6835" y="0"/>
                    <a:pt x="15267" y="0"/>
                  </a:cubicBezTo>
                  <a:close/>
                </a:path>
              </a:pathLst>
            </a:custGeom>
            <a:solidFill>
              <a:srgbClr val="000000"/>
            </a:solidFill>
            <a:ln w="19050" cap="sq">
              <a:solidFill>
                <a:srgbClr val="40DDDF"/>
              </a:solidFill>
              <a:prstDash val="solid"/>
              <a:miter/>
            </a:ln>
          </p:spPr>
        </p:sp>
        <p:sp>
          <p:nvSpPr>
            <p:cNvPr name="TextBox 4" id="4"/>
            <p:cNvSpPr txBox="true"/>
            <p:nvPr/>
          </p:nvSpPr>
          <p:spPr>
            <a:xfrm>
              <a:off x="0" y="-38100"/>
              <a:ext cx="3198509" cy="1258771"/>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1347319" y="1025363"/>
            <a:ext cx="4742240" cy="3072837"/>
            <a:chOff x="0" y="0"/>
            <a:chExt cx="879750" cy="570053"/>
          </a:xfrm>
        </p:grpSpPr>
        <p:sp>
          <p:nvSpPr>
            <p:cNvPr name="Freeform 6" id="6"/>
            <p:cNvSpPr/>
            <p:nvPr/>
          </p:nvSpPr>
          <p:spPr>
            <a:xfrm flipH="false" flipV="false" rot="0">
              <a:off x="0" y="0"/>
              <a:ext cx="879750" cy="570053"/>
            </a:xfrm>
            <a:custGeom>
              <a:avLst/>
              <a:gdLst/>
              <a:ahLst/>
              <a:cxnLst/>
              <a:rect r="r" b="b" t="t" l="l"/>
              <a:pathLst>
                <a:path h="570053" w="879750">
                  <a:moveTo>
                    <a:pt x="32651" y="0"/>
                  </a:moveTo>
                  <a:lnTo>
                    <a:pt x="847099" y="0"/>
                  </a:lnTo>
                  <a:cubicBezTo>
                    <a:pt x="855759" y="0"/>
                    <a:pt x="864064" y="3440"/>
                    <a:pt x="870187" y="9563"/>
                  </a:cubicBezTo>
                  <a:cubicBezTo>
                    <a:pt x="876310" y="15686"/>
                    <a:pt x="879750" y="23991"/>
                    <a:pt x="879750" y="32651"/>
                  </a:cubicBezTo>
                  <a:lnTo>
                    <a:pt x="879750" y="537402"/>
                  </a:lnTo>
                  <a:cubicBezTo>
                    <a:pt x="879750" y="546062"/>
                    <a:pt x="876310" y="554367"/>
                    <a:pt x="870187" y="560490"/>
                  </a:cubicBezTo>
                  <a:cubicBezTo>
                    <a:pt x="864064" y="566613"/>
                    <a:pt x="855759" y="570053"/>
                    <a:pt x="847099" y="570053"/>
                  </a:cubicBezTo>
                  <a:lnTo>
                    <a:pt x="32651" y="570053"/>
                  </a:lnTo>
                  <a:cubicBezTo>
                    <a:pt x="23991" y="570053"/>
                    <a:pt x="15686" y="566613"/>
                    <a:pt x="9563" y="560490"/>
                  </a:cubicBezTo>
                  <a:cubicBezTo>
                    <a:pt x="3440" y="554367"/>
                    <a:pt x="0" y="546062"/>
                    <a:pt x="0" y="537402"/>
                  </a:cubicBezTo>
                  <a:lnTo>
                    <a:pt x="0" y="32651"/>
                  </a:lnTo>
                  <a:cubicBezTo>
                    <a:pt x="0" y="23991"/>
                    <a:pt x="3440" y="15686"/>
                    <a:pt x="9563" y="9563"/>
                  </a:cubicBezTo>
                  <a:cubicBezTo>
                    <a:pt x="15686" y="3440"/>
                    <a:pt x="23991" y="0"/>
                    <a:pt x="32651" y="0"/>
                  </a:cubicBezTo>
                  <a:close/>
                </a:path>
              </a:pathLst>
            </a:custGeom>
            <a:blipFill>
              <a:blip r:embed="rId2"/>
              <a:stretch>
                <a:fillRect l="0" t="-1410" r="0" b="-1410"/>
              </a:stretch>
            </a:blipFill>
          </p:spPr>
        </p:sp>
      </p:grpSp>
      <p:grpSp>
        <p:nvGrpSpPr>
          <p:cNvPr name="Group 7" id="7"/>
          <p:cNvGrpSpPr/>
          <p:nvPr/>
        </p:nvGrpSpPr>
        <p:grpSpPr>
          <a:xfrm rot="0">
            <a:off x="1289871" y="961369"/>
            <a:ext cx="2616889" cy="3200825"/>
            <a:chOff x="0" y="0"/>
            <a:chExt cx="825297" cy="1009454"/>
          </a:xfrm>
        </p:grpSpPr>
        <p:sp>
          <p:nvSpPr>
            <p:cNvPr name="Freeform 8" id="8"/>
            <p:cNvSpPr/>
            <p:nvPr/>
          </p:nvSpPr>
          <p:spPr>
            <a:xfrm flipH="false" flipV="false" rot="0">
              <a:off x="0" y="0"/>
              <a:ext cx="825297" cy="1009454"/>
            </a:xfrm>
            <a:custGeom>
              <a:avLst/>
              <a:gdLst/>
              <a:ahLst/>
              <a:cxnLst/>
              <a:rect r="r" b="b" t="t" l="l"/>
              <a:pathLst>
                <a:path h="1009454" w="825297">
                  <a:moveTo>
                    <a:pt x="0" y="0"/>
                  </a:moveTo>
                  <a:lnTo>
                    <a:pt x="825297" y="0"/>
                  </a:lnTo>
                  <a:lnTo>
                    <a:pt x="825297" y="1009454"/>
                  </a:lnTo>
                  <a:lnTo>
                    <a:pt x="0" y="1009454"/>
                  </a:lnTo>
                  <a:close/>
                </a:path>
              </a:pathLst>
            </a:custGeom>
            <a:gradFill rotWithShape="true">
              <a:gsLst>
                <a:gs pos="0">
                  <a:srgbClr val="000000">
                    <a:alpha val="100000"/>
                  </a:srgbClr>
                </a:gs>
                <a:gs pos="100000">
                  <a:srgbClr val="000000">
                    <a:alpha val="0"/>
                  </a:srgbClr>
                </a:gs>
              </a:gsLst>
              <a:lin ang="0"/>
            </a:gradFill>
          </p:spPr>
        </p:sp>
        <p:sp>
          <p:nvSpPr>
            <p:cNvPr name="TextBox 9" id="9"/>
            <p:cNvSpPr txBox="true"/>
            <p:nvPr/>
          </p:nvSpPr>
          <p:spPr>
            <a:xfrm>
              <a:off x="0" y="-38100"/>
              <a:ext cx="825297" cy="1047554"/>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846320" y="6835440"/>
            <a:ext cx="6980176" cy="878912"/>
          </a:xfrm>
          <a:prstGeom prst="rect">
            <a:avLst/>
          </a:prstGeom>
        </p:spPr>
        <p:txBody>
          <a:bodyPr anchor="t" rtlCol="false" tIns="0" lIns="0" bIns="0" rIns="0">
            <a:spAutoFit/>
          </a:bodyPr>
          <a:lstStyle/>
          <a:p>
            <a:pPr algn="l">
              <a:lnSpc>
                <a:spcPts val="6615"/>
              </a:lnSpc>
            </a:pPr>
            <a:r>
              <a:rPr lang="en-US" sz="6615">
                <a:solidFill>
                  <a:srgbClr val="40DDDF"/>
                </a:solidFill>
                <a:latin typeface="Montserrat"/>
                <a:ea typeface="Montserrat"/>
                <a:cs typeface="Montserrat"/>
                <a:sym typeface="Montserrat"/>
              </a:rPr>
              <a:t>OBSERVATIONS</a:t>
            </a:r>
          </a:p>
        </p:txBody>
      </p:sp>
      <p:sp>
        <p:nvSpPr>
          <p:cNvPr name="Freeform 11" id="11"/>
          <p:cNvSpPr/>
          <p:nvPr/>
        </p:nvSpPr>
        <p:spPr>
          <a:xfrm flipH="false" flipV="false" rot="0">
            <a:off x="17259300" y="4822921"/>
            <a:ext cx="641157" cy="641157"/>
          </a:xfrm>
          <a:custGeom>
            <a:avLst/>
            <a:gdLst/>
            <a:ahLst/>
            <a:cxnLst/>
            <a:rect r="r" b="b" t="t" l="l"/>
            <a:pathLst>
              <a:path h="641157" w="641157">
                <a:moveTo>
                  <a:pt x="0" y="0"/>
                </a:moveTo>
                <a:lnTo>
                  <a:pt x="641157" y="0"/>
                </a:lnTo>
                <a:lnTo>
                  <a:pt x="641157" y="641158"/>
                </a:lnTo>
                <a:lnTo>
                  <a:pt x="0" y="6411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2" id="12"/>
          <p:cNvGrpSpPr/>
          <p:nvPr/>
        </p:nvGrpSpPr>
        <p:grpSpPr>
          <a:xfrm rot="0">
            <a:off x="19050" y="608948"/>
            <a:ext cx="827270" cy="3890123"/>
            <a:chOff x="0" y="0"/>
            <a:chExt cx="260899" cy="1226840"/>
          </a:xfrm>
        </p:grpSpPr>
        <p:sp>
          <p:nvSpPr>
            <p:cNvPr name="Freeform 13" id="13"/>
            <p:cNvSpPr/>
            <p:nvPr/>
          </p:nvSpPr>
          <p:spPr>
            <a:xfrm flipH="false" flipV="false" rot="0">
              <a:off x="0" y="0"/>
              <a:ext cx="260899" cy="1226840"/>
            </a:xfrm>
            <a:custGeom>
              <a:avLst/>
              <a:gdLst/>
              <a:ahLst/>
              <a:cxnLst/>
              <a:rect r="r" b="b" t="t" l="l"/>
              <a:pathLst>
                <a:path h="1226840" w="260899">
                  <a:moveTo>
                    <a:pt x="0" y="0"/>
                  </a:moveTo>
                  <a:lnTo>
                    <a:pt x="260899" y="0"/>
                  </a:lnTo>
                  <a:lnTo>
                    <a:pt x="260899" y="1226840"/>
                  </a:lnTo>
                  <a:lnTo>
                    <a:pt x="0" y="1226840"/>
                  </a:lnTo>
                  <a:close/>
                </a:path>
              </a:pathLst>
            </a:custGeom>
            <a:gradFill rotWithShape="true">
              <a:gsLst>
                <a:gs pos="0">
                  <a:srgbClr val="40DDDF">
                    <a:alpha val="100000"/>
                  </a:srgbClr>
                </a:gs>
                <a:gs pos="100000">
                  <a:srgbClr val="000000">
                    <a:alpha val="0"/>
                  </a:srgbClr>
                </a:gs>
              </a:gsLst>
              <a:lin ang="0"/>
            </a:gradFill>
          </p:spPr>
        </p:sp>
        <p:sp>
          <p:nvSpPr>
            <p:cNvPr name="TextBox 14" id="14"/>
            <p:cNvSpPr txBox="true"/>
            <p:nvPr/>
          </p:nvSpPr>
          <p:spPr>
            <a:xfrm>
              <a:off x="0" y="-38100"/>
              <a:ext cx="260899" cy="1264940"/>
            </a:xfrm>
            <a:prstGeom prst="rect">
              <a:avLst/>
            </a:prstGeom>
          </p:spPr>
          <p:txBody>
            <a:bodyPr anchor="ctr" rtlCol="false" tIns="50800" lIns="50800" bIns="50800" rIns="50800"/>
            <a:lstStyle/>
            <a:p>
              <a:pPr algn="ctr">
                <a:lnSpc>
                  <a:spcPts val="2659"/>
                </a:lnSpc>
                <a:spcBef>
                  <a:spcPct val="0"/>
                </a:spcBef>
              </a:pPr>
            </a:p>
          </p:txBody>
        </p:sp>
      </p:grpSp>
      <p:sp>
        <p:nvSpPr>
          <p:cNvPr name="TextBox 15" id="15"/>
          <p:cNvSpPr txBox="true"/>
          <p:nvPr/>
        </p:nvSpPr>
        <p:spPr>
          <a:xfrm rot="0">
            <a:off x="8173494" y="4575834"/>
            <a:ext cx="8840242" cy="5236198"/>
          </a:xfrm>
          <a:prstGeom prst="rect">
            <a:avLst/>
          </a:prstGeom>
        </p:spPr>
        <p:txBody>
          <a:bodyPr anchor="t" rtlCol="false" tIns="0" lIns="0" bIns="0" rIns="0">
            <a:spAutoFit/>
          </a:bodyPr>
          <a:lstStyle/>
          <a:p>
            <a:pPr algn="l">
              <a:lnSpc>
                <a:spcPts val="3042"/>
              </a:lnSpc>
            </a:pPr>
            <a:r>
              <a:rPr lang="en-US" sz="2173" i="true" b="true">
                <a:solidFill>
                  <a:srgbClr val="FFFFFF"/>
                </a:solidFill>
                <a:latin typeface="Open Sans Bold Italics"/>
                <a:ea typeface="Open Sans Bold Italics"/>
                <a:cs typeface="Open Sans Bold Italics"/>
                <a:sym typeface="Open Sans Bold Italics"/>
              </a:rPr>
              <a:t>The benchmark reveals a systemic vulnerability across the Bangladeshi banking sector regarding secure coding practices, as all five banks failed the "Hardcoded Secrets" check. This means every application is potentially exposing sensitive keys or tokens directly within its source code, leaving them highly vulnerable to reverse-engineering attacks.</a:t>
            </a:r>
          </a:p>
          <a:p>
            <a:pPr algn="l">
              <a:lnSpc>
                <a:spcPts val="3042"/>
              </a:lnSpc>
            </a:pPr>
          </a:p>
          <a:p>
            <a:pPr algn="l">
              <a:lnSpc>
                <a:spcPts val="3042"/>
              </a:lnSpc>
              <a:spcBef>
                <a:spcPct val="0"/>
              </a:spcBef>
            </a:pPr>
            <a:r>
              <a:rPr lang="en-US" b="true" sz="2173" i="true">
                <a:solidFill>
                  <a:srgbClr val="FFFFFF"/>
                </a:solidFill>
                <a:latin typeface="Open Sans Bold Italics"/>
                <a:ea typeface="Open Sans Bold Italics"/>
                <a:cs typeface="Open Sans Bold Italics"/>
                <a:sym typeface="Open Sans Bold Italics"/>
              </a:rPr>
              <a:t>While DBBL and BRAC Bank demonstrate a strong security baseline by effectively locking down network traffic (Native SSL), debugging, and device integrity (Root Detection), the lower-ranking apps present severe risks. City Bank stands out as critically vulnerable due to failing basic network encryption and remote debugging checks, and IFIC Bank's failure to implement proper Root Detection leaves its users highly susceptible to device-level malware.</a:t>
            </a:r>
          </a:p>
        </p:txBody>
      </p:sp>
      <p:sp>
        <p:nvSpPr>
          <p:cNvPr name="Freeform 16" id="16"/>
          <p:cNvSpPr/>
          <p:nvPr/>
        </p:nvSpPr>
        <p:spPr>
          <a:xfrm flipH="false" flipV="false" rot="0">
            <a:off x="14779698" y="1052123"/>
            <a:ext cx="376666" cy="446131"/>
          </a:xfrm>
          <a:custGeom>
            <a:avLst/>
            <a:gdLst/>
            <a:ahLst/>
            <a:cxnLst/>
            <a:rect r="r" b="b" t="t" l="l"/>
            <a:pathLst>
              <a:path h="446131" w="376666">
                <a:moveTo>
                  <a:pt x="0" y="0"/>
                </a:moveTo>
                <a:lnTo>
                  <a:pt x="376666" y="0"/>
                </a:lnTo>
                <a:lnTo>
                  <a:pt x="376666" y="446131"/>
                </a:lnTo>
                <a:lnTo>
                  <a:pt x="0" y="44613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7" id="17"/>
          <p:cNvSpPr txBox="true"/>
          <p:nvPr/>
        </p:nvSpPr>
        <p:spPr>
          <a:xfrm rot="0">
            <a:off x="15156364" y="1128821"/>
            <a:ext cx="2358460" cy="264160"/>
          </a:xfrm>
          <a:prstGeom prst="rect">
            <a:avLst/>
          </a:prstGeom>
        </p:spPr>
        <p:txBody>
          <a:bodyPr anchor="t" rtlCol="false" tIns="0" lIns="0" bIns="0" rIns="0">
            <a:spAutoFit/>
          </a:bodyPr>
          <a:lstStyle/>
          <a:p>
            <a:pPr algn="r">
              <a:lnSpc>
                <a:spcPts val="2239"/>
              </a:lnSpc>
              <a:spcBef>
                <a:spcPct val="0"/>
              </a:spcBef>
            </a:pPr>
            <a:r>
              <a:rPr lang="en-US" b="true" sz="1599">
                <a:solidFill>
                  <a:srgbClr val="FFFFFF"/>
                </a:solidFill>
                <a:latin typeface="Open Sans Bold"/>
                <a:ea typeface="Open Sans Bold"/>
                <a:cs typeface="Open Sans Bold"/>
                <a:sym typeface="Open Sans Bold"/>
              </a:rPr>
              <a:t>GHOST_DEVELOPERS</a:t>
            </a:r>
          </a:p>
        </p:txBody>
      </p:sp>
      <p:grpSp>
        <p:nvGrpSpPr>
          <p:cNvPr name="Group 18" id="18"/>
          <p:cNvGrpSpPr/>
          <p:nvPr/>
        </p:nvGrpSpPr>
        <p:grpSpPr>
          <a:xfrm rot="0">
            <a:off x="6261972" y="1025363"/>
            <a:ext cx="4742240" cy="3072837"/>
            <a:chOff x="0" y="0"/>
            <a:chExt cx="879750" cy="570053"/>
          </a:xfrm>
        </p:grpSpPr>
        <p:sp>
          <p:nvSpPr>
            <p:cNvPr name="Freeform 19" id="19"/>
            <p:cNvSpPr/>
            <p:nvPr/>
          </p:nvSpPr>
          <p:spPr>
            <a:xfrm flipH="false" flipV="false" rot="0">
              <a:off x="0" y="0"/>
              <a:ext cx="879750" cy="570053"/>
            </a:xfrm>
            <a:custGeom>
              <a:avLst/>
              <a:gdLst/>
              <a:ahLst/>
              <a:cxnLst/>
              <a:rect r="r" b="b" t="t" l="l"/>
              <a:pathLst>
                <a:path h="570053" w="879750">
                  <a:moveTo>
                    <a:pt x="32651" y="0"/>
                  </a:moveTo>
                  <a:lnTo>
                    <a:pt x="847099" y="0"/>
                  </a:lnTo>
                  <a:cubicBezTo>
                    <a:pt x="855759" y="0"/>
                    <a:pt x="864064" y="3440"/>
                    <a:pt x="870187" y="9563"/>
                  </a:cubicBezTo>
                  <a:cubicBezTo>
                    <a:pt x="876310" y="15686"/>
                    <a:pt x="879750" y="23991"/>
                    <a:pt x="879750" y="32651"/>
                  </a:cubicBezTo>
                  <a:lnTo>
                    <a:pt x="879750" y="537402"/>
                  </a:lnTo>
                  <a:cubicBezTo>
                    <a:pt x="879750" y="546062"/>
                    <a:pt x="876310" y="554367"/>
                    <a:pt x="870187" y="560490"/>
                  </a:cubicBezTo>
                  <a:cubicBezTo>
                    <a:pt x="864064" y="566613"/>
                    <a:pt x="855759" y="570053"/>
                    <a:pt x="847099" y="570053"/>
                  </a:cubicBezTo>
                  <a:lnTo>
                    <a:pt x="32651" y="570053"/>
                  </a:lnTo>
                  <a:cubicBezTo>
                    <a:pt x="23991" y="570053"/>
                    <a:pt x="15686" y="566613"/>
                    <a:pt x="9563" y="560490"/>
                  </a:cubicBezTo>
                  <a:cubicBezTo>
                    <a:pt x="3440" y="554367"/>
                    <a:pt x="0" y="546062"/>
                    <a:pt x="0" y="537402"/>
                  </a:cubicBezTo>
                  <a:lnTo>
                    <a:pt x="0" y="32651"/>
                  </a:lnTo>
                  <a:cubicBezTo>
                    <a:pt x="0" y="23991"/>
                    <a:pt x="3440" y="15686"/>
                    <a:pt x="9563" y="9563"/>
                  </a:cubicBezTo>
                  <a:cubicBezTo>
                    <a:pt x="15686" y="3440"/>
                    <a:pt x="23991" y="0"/>
                    <a:pt x="32651" y="0"/>
                  </a:cubicBezTo>
                  <a:close/>
                </a:path>
              </a:pathLst>
            </a:custGeom>
            <a:blipFill>
              <a:blip r:embed="rId7"/>
              <a:stretch>
                <a:fillRect l="-49820" t="0" r="0" b="0"/>
              </a:stretch>
            </a:blipFill>
          </p:spPr>
        </p:sp>
      </p:grpSp>
      <p:grpSp>
        <p:nvGrpSpPr>
          <p:cNvPr name="Group 20" id="20"/>
          <p:cNvGrpSpPr/>
          <p:nvPr/>
        </p:nvGrpSpPr>
        <p:grpSpPr>
          <a:xfrm rot="0">
            <a:off x="6166202" y="961369"/>
            <a:ext cx="2466890" cy="3200825"/>
            <a:chOff x="0" y="0"/>
            <a:chExt cx="777991" cy="1009454"/>
          </a:xfrm>
        </p:grpSpPr>
        <p:sp>
          <p:nvSpPr>
            <p:cNvPr name="Freeform 21" id="21"/>
            <p:cNvSpPr/>
            <p:nvPr/>
          </p:nvSpPr>
          <p:spPr>
            <a:xfrm flipH="false" flipV="false" rot="0">
              <a:off x="0" y="0"/>
              <a:ext cx="777991" cy="1009454"/>
            </a:xfrm>
            <a:custGeom>
              <a:avLst/>
              <a:gdLst/>
              <a:ahLst/>
              <a:cxnLst/>
              <a:rect r="r" b="b" t="t" l="l"/>
              <a:pathLst>
                <a:path h="1009454" w="777991">
                  <a:moveTo>
                    <a:pt x="0" y="0"/>
                  </a:moveTo>
                  <a:lnTo>
                    <a:pt x="777991" y="0"/>
                  </a:lnTo>
                  <a:lnTo>
                    <a:pt x="777991" y="1009454"/>
                  </a:lnTo>
                  <a:lnTo>
                    <a:pt x="0" y="1009454"/>
                  </a:lnTo>
                  <a:close/>
                </a:path>
              </a:pathLst>
            </a:custGeom>
            <a:gradFill rotWithShape="true">
              <a:gsLst>
                <a:gs pos="0">
                  <a:srgbClr val="000000">
                    <a:alpha val="100000"/>
                  </a:srgbClr>
                </a:gs>
                <a:gs pos="100000">
                  <a:srgbClr val="000000">
                    <a:alpha val="0"/>
                  </a:srgbClr>
                </a:gs>
              </a:gsLst>
              <a:lin ang="0"/>
            </a:gradFill>
          </p:spPr>
        </p:sp>
        <p:sp>
          <p:nvSpPr>
            <p:cNvPr name="TextBox 22" id="22"/>
            <p:cNvSpPr txBox="true"/>
            <p:nvPr/>
          </p:nvSpPr>
          <p:spPr>
            <a:xfrm>
              <a:off x="0" y="-38100"/>
              <a:ext cx="777991" cy="1047554"/>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2101761" y="1404131"/>
            <a:ext cx="5670909" cy="6522671"/>
            <a:chOff x="0" y="0"/>
            <a:chExt cx="1493573" cy="1717905"/>
          </a:xfrm>
        </p:grpSpPr>
        <p:sp>
          <p:nvSpPr>
            <p:cNvPr name="Freeform 3" id="3"/>
            <p:cNvSpPr/>
            <p:nvPr/>
          </p:nvSpPr>
          <p:spPr>
            <a:xfrm flipH="false" flipV="false" rot="0">
              <a:off x="0" y="0"/>
              <a:ext cx="1493573" cy="1717905"/>
            </a:xfrm>
            <a:custGeom>
              <a:avLst/>
              <a:gdLst/>
              <a:ahLst/>
              <a:cxnLst/>
              <a:rect r="r" b="b" t="t" l="l"/>
              <a:pathLst>
                <a:path h="1717905" w="1493573">
                  <a:moveTo>
                    <a:pt x="27304" y="0"/>
                  </a:moveTo>
                  <a:lnTo>
                    <a:pt x="1466269" y="0"/>
                  </a:lnTo>
                  <a:cubicBezTo>
                    <a:pt x="1481348" y="0"/>
                    <a:pt x="1493573" y="12224"/>
                    <a:pt x="1493573" y="27304"/>
                  </a:cubicBezTo>
                  <a:lnTo>
                    <a:pt x="1493573" y="1690601"/>
                  </a:lnTo>
                  <a:cubicBezTo>
                    <a:pt x="1493573" y="1697842"/>
                    <a:pt x="1490696" y="1704787"/>
                    <a:pt x="1485576" y="1709908"/>
                  </a:cubicBezTo>
                  <a:cubicBezTo>
                    <a:pt x="1480455" y="1715028"/>
                    <a:pt x="1473510" y="1717905"/>
                    <a:pt x="1466269" y="1717905"/>
                  </a:cubicBezTo>
                  <a:lnTo>
                    <a:pt x="27304" y="1717905"/>
                  </a:lnTo>
                  <a:cubicBezTo>
                    <a:pt x="20063" y="1717905"/>
                    <a:pt x="13118" y="1715028"/>
                    <a:pt x="7997" y="1709908"/>
                  </a:cubicBezTo>
                  <a:cubicBezTo>
                    <a:pt x="2877" y="1704787"/>
                    <a:pt x="0" y="1697842"/>
                    <a:pt x="0" y="1690601"/>
                  </a:cubicBezTo>
                  <a:lnTo>
                    <a:pt x="0" y="27304"/>
                  </a:lnTo>
                  <a:cubicBezTo>
                    <a:pt x="0" y="20063"/>
                    <a:pt x="2877" y="13118"/>
                    <a:pt x="7997" y="7997"/>
                  </a:cubicBezTo>
                  <a:cubicBezTo>
                    <a:pt x="13118" y="2877"/>
                    <a:pt x="20063" y="0"/>
                    <a:pt x="27304" y="0"/>
                  </a:cubicBezTo>
                  <a:close/>
                </a:path>
              </a:pathLst>
            </a:custGeom>
            <a:solidFill>
              <a:srgbClr val="40DDDF"/>
            </a:solidFill>
            <a:ln w="19050" cap="sq">
              <a:solidFill>
                <a:srgbClr val="40DDDF"/>
              </a:solidFill>
              <a:prstDash val="solid"/>
              <a:miter/>
            </a:ln>
          </p:spPr>
        </p:sp>
        <p:sp>
          <p:nvSpPr>
            <p:cNvPr name="TextBox 4" id="4"/>
            <p:cNvSpPr txBox="true"/>
            <p:nvPr/>
          </p:nvSpPr>
          <p:spPr>
            <a:xfrm>
              <a:off x="0" y="-38100"/>
              <a:ext cx="1493573" cy="1756005"/>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12615131" y="2086056"/>
            <a:ext cx="4644169" cy="5158821"/>
            <a:chOff x="0" y="0"/>
            <a:chExt cx="1028101" cy="1142032"/>
          </a:xfrm>
        </p:grpSpPr>
        <p:sp>
          <p:nvSpPr>
            <p:cNvPr name="Freeform 6" id="6"/>
            <p:cNvSpPr/>
            <p:nvPr/>
          </p:nvSpPr>
          <p:spPr>
            <a:xfrm flipH="false" flipV="false" rot="0">
              <a:off x="0" y="0"/>
              <a:ext cx="1028101" cy="1142032"/>
            </a:xfrm>
            <a:custGeom>
              <a:avLst/>
              <a:gdLst/>
              <a:ahLst/>
              <a:cxnLst/>
              <a:rect r="r" b="b" t="t" l="l"/>
              <a:pathLst>
                <a:path h="1142032" w="1028101">
                  <a:moveTo>
                    <a:pt x="33340" y="0"/>
                  </a:moveTo>
                  <a:lnTo>
                    <a:pt x="994760" y="0"/>
                  </a:lnTo>
                  <a:cubicBezTo>
                    <a:pt x="1013174" y="0"/>
                    <a:pt x="1028101" y="14927"/>
                    <a:pt x="1028101" y="33340"/>
                  </a:cubicBezTo>
                  <a:lnTo>
                    <a:pt x="1028101" y="1108691"/>
                  </a:lnTo>
                  <a:cubicBezTo>
                    <a:pt x="1028101" y="1127105"/>
                    <a:pt x="1013174" y="1142032"/>
                    <a:pt x="994760" y="1142032"/>
                  </a:cubicBezTo>
                  <a:lnTo>
                    <a:pt x="33340" y="1142032"/>
                  </a:lnTo>
                  <a:cubicBezTo>
                    <a:pt x="24498" y="1142032"/>
                    <a:pt x="16018" y="1138519"/>
                    <a:pt x="9765" y="1132266"/>
                  </a:cubicBezTo>
                  <a:cubicBezTo>
                    <a:pt x="3513" y="1126014"/>
                    <a:pt x="0" y="1117534"/>
                    <a:pt x="0" y="1108691"/>
                  </a:cubicBezTo>
                  <a:lnTo>
                    <a:pt x="0" y="33340"/>
                  </a:lnTo>
                  <a:cubicBezTo>
                    <a:pt x="0" y="14927"/>
                    <a:pt x="14927" y="0"/>
                    <a:pt x="33340" y="0"/>
                  </a:cubicBezTo>
                  <a:close/>
                </a:path>
              </a:pathLst>
            </a:custGeom>
            <a:blipFill>
              <a:blip r:embed="rId2"/>
              <a:stretch>
                <a:fillRect l="-33363" t="0" r="-33363" b="0"/>
              </a:stretch>
            </a:blipFill>
          </p:spPr>
        </p:sp>
      </p:grpSp>
      <p:sp>
        <p:nvSpPr>
          <p:cNvPr name="TextBox 7" id="7"/>
          <p:cNvSpPr txBox="true"/>
          <p:nvPr/>
        </p:nvSpPr>
        <p:spPr>
          <a:xfrm rot="0">
            <a:off x="2040248" y="2246291"/>
            <a:ext cx="6571341" cy="908056"/>
          </a:xfrm>
          <a:prstGeom prst="rect">
            <a:avLst/>
          </a:prstGeom>
        </p:spPr>
        <p:txBody>
          <a:bodyPr anchor="t" rtlCol="false" tIns="0" lIns="0" bIns="0" rIns="0">
            <a:spAutoFit/>
          </a:bodyPr>
          <a:lstStyle/>
          <a:p>
            <a:pPr algn="l">
              <a:lnSpc>
                <a:spcPts val="6870"/>
              </a:lnSpc>
            </a:pPr>
            <a:r>
              <a:rPr lang="en-US" sz="6870">
                <a:solidFill>
                  <a:srgbClr val="40DDDF"/>
                </a:solidFill>
                <a:latin typeface="Montserrat"/>
                <a:ea typeface="Montserrat"/>
                <a:cs typeface="Montserrat"/>
                <a:sym typeface="Montserrat"/>
              </a:rPr>
              <a:t>CONCLUSION</a:t>
            </a:r>
          </a:p>
        </p:txBody>
      </p:sp>
      <p:sp>
        <p:nvSpPr>
          <p:cNvPr name="Freeform 8" id="8"/>
          <p:cNvSpPr/>
          <p:nvPr/>
        </p:nvSpPr>
        <p:spPr>
          <a:xfrm flipH="false" flipV="false" rot="0">
            <a:off x="4684761" y="1275188"/>
            <a:ext cx="641157" cy="641157"/>
          </a:xfrm>
          <a:custGeom>
            <a:avLst/>
            <a:gdLst/>
            <a:ahLst/>
            <a:cxnLst/>
            <a:rect r="r" b="b" t="t" l="l"/>
            <a:pathLst>
              <a:path h="641157" w="641157">
                <a:moveTo>
                  <a:pt x="0" y="0"/>
                </a:moveTo>
                <a:lnTo>
                  <a:pt x="641157" y="0"/>
                </a:lnTo>
                <a:lnTo>
                  <a:pt x="641157" y="641158"/>
                </a:lnTo>
                <a:lnTo>
                  <a:pt x="0" y="6411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9" id="9"/>
          <p:cNvGrpSpPr/>
          <p:nvPr/>
        </p:nvGrpSpPr>
        <p:grpSpPr>
          <a:xfrm rot="-5400000">
            <a:off x="5693049" y="5039329"/>
            <a:ext cx="764269" cy="10092966"/>
            <a:chOff x="0" y="0"/>
            <a:chExt cx="201289" cy="2658230"/>
          </a:xfrm>
        </p:grpSpPr>
        <p:sp>
          <p:nvSpPr>
            <p:cNvPr name="Freeform 10" id="10"/>
            <p:cNvSpPr/>
            <p:nvPr/>
          </p:nvSpPr>
          <p:spPr>
            <a:xfrm flipH="false" flipV="false" rot="0">
              <a:off x="0" y="0"/>
              <a:ext cx="201289" cy="2658230"/>
            </a:xfrm>
            <a:custGeom>
              <a:avLst/>
              <a:gdLst/>
              <a:ahLst/>
              <a:cxnLst/>
              <a:rect r="r" b="b" t="t" l="l"/>
              <a:pathLst>
                <a:path h="2658230" w="201289">
                  <a:moveTo>
                    <a:pt x="0" y="0"/>
                  </a:moveTo>
                  <a:lnTo>
                    <a:pt x="201289" y="0"/>
                  </a:lnTo>
                  <a:lnTo>
                    <a:pt x="201289" y="2658230"/>
                  </a:lnTo>
                  <a:lnTo>
                    <a:pt x="0" y="2658230"/>
                  </a:lnTo>
                  <a:close/>
                </a:path>
              </a:pathLst>
            </a:custGeom>
            <a:gradFill rotWithShape="true">
              <a:gsLst>
                <a:gs pos="0">
                  <a:srgbClr val="40DDDF">
                    <a:alpha val="100000"/>
                  </a:srgbClr>
                </a:gs>
                <a:gs pos="100000">
                  <a:srgbClr val="000000">
                    <a:alpha val="0"/>
                  </a:srgbClr>
                </a:gs>
              </a:gsLst>
              <a:lin ang="0"/>
            </a:gradFill>
          </p:spPr>
        </p:sp>
        <p:sp>
          <p:nvSpPr>
            <p:cNvPr name="TextBox 11" id="11"/>
            <p:cNvSpPr txBox="true"/>
            <p:nvPr/>
          </p:nvSpPr>
          <p:spPr>
            <a:xfrm>
              <a:off x="0" y="-38100"/>
              <a:ext cx="201289" cy="2696330"/>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1028700" y="1052123"/>
            <a:ext cx="376666" cy="446131"/>
          </a:xfrm>
          <a:custGeom>
            <a:avLst/>
            <a:gdLst/>
            <a:ahLst/>
            <a:cxnLst/>
            <a:rect r="r" b="b" t="t" l="l"/>
            <a:pathLst>
              <a:path h="446131" w="376666">
                <a:moveTo>
                  <a:pt x="0" y="0"/>
                </a:moveTo>
                <a:lnTo>
                  <a:pt x="376666" y="0"/>
                </a:lnTo>
                <a:lnTo>
                  <a:pt x="376666" y="446131"/>
                </a:lnTo>
                <a:lnTo>
                  <a:pt x="0" y="44613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3" id="13"/>
          <p:cNvSpPr txBox="true"/>
          <p:nvPr/>
        </p:nvSpPr>
        <p:spPr>
          <a:xfrm rot="0">
            <a:off x="1354751" y="1128821"/>
            <a:ext cx="2358460" cy="264160"/>
          </a:xfrm>
          <a:prstGeom prst="rect">
            <a:avLst/>
          </a:prstGeom>
        </p:spPr>
        <p:txBody>
          <a:bodyPr anchor="t" rtlCol="false" tIns="0" lIns="0" bIns="0" rIns="0">
            <a:spAutoFit/>
          </a:bodyPr>
          <a:lstStyle/>
          <a:p>
            <a:pPr algn="r">
              <a:lnSpc>
                <a:spcPts val="2239"/>
              </a:lnSpc>
              <a:spcBef>
                <a:spcPct val="0"/>
              </a:spcBef>
            </a:pPr>
            <a:r>
              <a:rPr lang="en-US" b="true" sz="1599">
                <a:solidFill>
                  <a:srgbClr val="FFFFFF"/>
                </a:solidFill>
                <a:latin typeface="Open Sans Bold"/>
                <a:ea typeface="Open Sans Bold"/>
                <a:cs typeface="Open Sans Bold"/>
                <a:sym typeface="Open Sans Bold"/>
              </a:rPr>
              <a:t>GHOST_DEVELOPERS</a:t>
            </a:r>
          </a:p>
        </p:txBody>
      </p:sp>
      <p:grpSp>
        <p:nvGrpSpPr>
          <p:cNvPr name="Group 14" id="14"/>
          <p:cNvGrpSpPr/>
          <p:nvPr/>
        </p:nvGrpSpPr>
        <p:grpSpPr>
          <a:xfrm rot="0">
            <a:off x="1217033" y="3833742"/>
            <a:ext cx="10371358" cy="5190540"/>
            <a:chOff x="0" y="0"/>
            <a:chExt cx="2731551" cy="1367056"/>
          </a:xfrm>
        </p:grpSpPr>
        <p:sp>
          <p:nvSpPr>
            <p:cNvPr name="Freeform 15" id="15"/>
            <p:cNvSpPr/>
            <p:nvPr/>
          </p:nvSpPr>
          <p:spPr>
            <a:xfrm flipH="false" flipV="false" rot="0">
              <a:off x="0" y="0"/>
              <a:ext cx="2731551" cy="1367056"/>
            </a:xfrm>
            <a:custGeom>
              <a:avLst/>
              <a:gdLst/>
              <a:ahLst/>
              <a:cxnLst/>
              <a:rect r="r" b="b" t="t" l="l"/>
              <a:pathLst>
                <a:path h="1367056" w="2731551">
                  <a:moveTo>
                    <a:pt x="14929" y="0"/>
                  </a:moveTo>
                  <a:lnTo>
                    <a:pt x="2716622" y="0"/>
                  </a:lnTo>
                  <a:cubicBezTo>
                    <a:pt x="2720581" y="0"/>
                    <a:pt x="2724378" y="1573"/>
                    <a:pt x="2727178" y="4373"/>
                  </a:cubicBezTo>
                  <a:cubicBezTo>
                    <a:pt x="2729978" y="7173"/>
                    <a:pt x="2731551" y="10970"/>
                    <a:pt x="2731551" y="14929"/>
                  </a:cubicBezTo>
                  <a:lnTo>
                    <a:pt x="2731551" y="1352126"/>
                  </a:lnTo>
                  <a:cubicBezTo>
                    <a:pt x="2731551" y="1356086"/>
                    <a:pt x="2729978" y="1359883"/>
                    <a:pt x="2727178" y="1362683"/>
                  </a:cubicBezTo>
                  <a:cubicBezTo>
                    <a:pt x="2724378" y="1365483"/>
                    <a:pt x="2720581" y="1367056"/>
                    <a:pt x="2716622" y="1367056"/>
                  </a:cubicBezTo>
                  <a:lnTo>
                    <a:pt x="14929" y="1367056"/>
                  </a:lnTo>
                  <a:cubicBezTo>
                    <a:pt x="10970" y="1367056"/>
                    <a:pt x="7173" y="1365483"/>
                    <a:pt x="4373" y="1362683"/>
                  </a:cubicBezTo>
                  <a:cubicBezTo>
                    <a:pt x="1573" y="1359883"/>
                    <a:pt x="0" y="1356086"/>
                    <a:pt x="0" y="1352126"/>
                  </a:cubicBezTo>
                  <a:lnTo>
                    <a:pt x="0" y="14929"/>
                  </a:lnTo>
                  <a:cubicBezTo>
                    <a:pt x="0" y="10970"/>
                    <a:pt x="1573" y="7173"/>
                    <a:pt x="4373" y="4373"/>
                  </a:cubicBezTo>
                  <a:cubicBezTo>
                    <a:pt x="7173" y="1573"/>
                    <a:pt x="10970" y="0"/>
                    <a:pt x="14929" y="0"/>
                  </a:cubicBezTo>
                  <a:close/>
                </a:path>
              </a:pathLst>
            </a:custGeom>
            <a:solidFill>
              <a:srgbClr val="000000"/>
            </a:solidFill>
            <a:ln w="19050" cap="sq">
              <a:solidFill>
                <a:srgbClr val="40DDDF"/>
              </a:solidFill>
              <a:prstDash val="solid"/>
              <a:miter/>
            </a:ln>
          </p:spPr>
        </p:sp>
        <p:sp>
          <p:nvSpPr>
            <p:cNvPr name="TextBox 16" id="16"/>
            <p:cNvSpPr txBox="true"/>
            <p:nvPr/>
          </p:nvSpPr>
          <p:spPr>
            <a:xfrm>
              <a:off x="0" y="-38100"/>
              <a:ext cx="2731551" cy="1405156"/>
            </a:xfrm>
            <a:prstGeom prst="rect">
              <a:avLst/>
            </a:prstGeom>
          </p:spPr>
          <p:txBody>
            <a:bodyPr anchor="ctr" rtlCol="false" tIns="50800" lIns="50800" bIns="50800" rIns="50800"/>
            <a:lstStyle/>
            <a:p>
              <a:pPr algn="ctr">
                <a:lnSpc>
                  <a:spcPts val="3359"/>
                </a:lnSpc>
              </a:pPr>
            </a:p>
          </p:txBody>
        </p:sp>
      </p:grpSp>
      <p:grpSp>
        <p:nvGrpSpPr>
          <p:cNvPr name="Group 17" id="17"/>
          <p:cNvGrpSpPr/>
          <p:nvPr/>
        </p:nvGrpSpPr>
        <p:grpSpPr>
          <a:xfrm rot="-10800000">
            <a:off x="15039717" y="2112941"/>
            <a:ext cx="2219583" cy="5158821"/>
            <a:chOff x="0" y="0"/>
            <a:chExt cx="835311" cy="1941454"/>
          </a:xfrm>
        </p:grpSpPr>
        <p:sp>
          <p:nvSpPr>
            <p:cNvPr name="Freeform 18" id="18"/>
            <p:cNvSpPr/>
            <p:nvPr/>
          </p:nvSpPr>
          <p:spPr>
            <a:xfrm flipH="false" flipV="false" rot="0">
              <a:off x="0" y="0"/>
              <a:ext cx="835311" cy="1941454"/>
            </a:xfrm>
            <a:custGeom>
              <a:avLst/>
              <a:gdLst/>
              <a:ahLst/>
              <a:cxnLst/>
              <a:rect r="r" b="b" t="t" l="l"/>
              <a:pathLst>
                <a:path h="1941454" w="835311">
                  <a:moveTo>
                    <a:pt x="69760" y="0"/>
                  </a:moveTo>
                  <a:lnTo>
                    <a:pt x="765550" y="0"/>
                  </a:lnTo>
                  <a:cubicBezTo>
                    <a:pt x="784052" y="0"/>
                    <a:pt x="801796" y="7350"/>
                    <a:pt x="814878" y="20432"/>
                  </a:cubicBezTo>
                  <a:cubicBezTo>
                    <a:pt x="827961" y="33515"/>
                    <a:pt x="835311" y="51259"/>
                    <a:pt x="835311" y="69760"/>
                  </a:cubicBezTo>
                  <a:lnTo>
                    <a:pt x="835311" y="1871694"/>
                  </a:lnTo>
                  <a:cubicBezTo>
                    <a:pt x="835311" y="1890195"/>
                    <a:pt x="827961" y="1907939"/>
                    <a:pt x="814878" y="1921022"/>
                  </a:cubicBezTo>
                  <a:cubicBezTo>
                    <a:pt x="801796" y="1934104"/>
                    <a:pt x="784052" y="1941454"/>
                    <a:pt x="765550" y="1941454"/>
                  </a:cubicBezTo>
                  <a:lnTo>
                    <a:pt x="69760" y="1941454"/>
                  </a:lnTo>
                  <a:cubicBezTo>
                    <a:pt x="51259" y="1941454"/>
                    <a:pt x="33515" y="1934104"/>
                    <a:pt x="20432" y="1921022"/>
                  </a:cubicBezTo>
                  <a:cubicBezTo>
                    <a:pt x="7350" y="1907939"/>
                    <a:pt x="0" y="1890195"/>
                    <a:pt x="0" y="1871694"/>
                  </a:cubicBezTo>
                  <a:lnTo>
                    <a:pt x="0" y="69760"/>
                  </a:lnTo>
                  <a:cubicBezTo>
                    <a:pt x="0" y="51259"/>
                    <a:pt x="7350" y="33515"/>
                    <a:pt x="20432" y="20432"/>
                  </a:cubicBezTo>
                  <a:cubicBezTo>
                    <a:pt x="33515" y="7350"/>
                    <a:pt x="51259" y="0"/>
                    <a:pt x="69760" y="0"/>
                  </a:cubicBezTo>
                  <a:close/>
                </a:path>
              </a:pathLst>
            </a:custGeom>
            <a:gradFill rotWithShape="true">
              <a:gsLst>
                <a:gs pos="0">
                  <a:srgbClr val="000000">
                    <a:alpha val="100000"/>
                  </a:srgbClr>
                </a:gs>
                <a:gs pos="100000">
                  <a:srgbClr val="000000">
                    <a:alpha val="0"/>
                  </a:srgbClr>
                </a:gs>
              </a:gsLst>
              <a:lin ang="0"/>
            </a:gradFill>
          </p:spPr>
        </p:sp>
        <p:sp>
          <p:nvSpPr>
            <p:cNvPr name="TextBox 19" id="19"/>
            <p:cNvSpPr txBox="true"/>
            <p:nvPr/>
          </p:nvSpPr>
          <p:spPr>
            <a:xfrm>
              <a:off x="0" y="-38100"/>
              <a:ext cx="835311" cy="1979554"/>
            </a:xfrm>
            <a:prstGeom prst="rect">
              <a:avLst/>
            </a:prstGeom>
          </p:spPr>
          <p:txBody>
            <a:bodyPr anchor="ctr" rtlCol="false" tIns="50800" lIns="50800" bIns="50800" rIns="50800"/>
            <a:lstStyle/>
            <a:p>
              <a:pPr algn="ctr">
                <a:lnSpc>
                  <a:spcPts val="2659"/>
                </a:lnSpc>
                <a:spcBef>
                  <a:spcPct val="0"/>
                </a:spcBef>
              </a:pPr>
            </a:p>
          </p:txBody>
        </p:sp>
      </p:grpSp>
      <p:sp>
        <p:nvSpPr>
          <p:cNvPr name="TextBox 20" id="20"/>
          <p:cNvSpPr txBox="true"/>
          <p:nvPr/>
        </p:nvSpPr>
        <p:spPr>
          <a:xfrm rot="0">
            <a:off x="1450396" y="3943268"/>
            <a:ext cx="9904633" cy="4923862"/>
          </a:xfrm>
          <a:prstGeom prst="rect">
            <a:avLst/>
          </a:prstGeom>
        </p:spPr>
        <p:txBody>
          <a:bodyPr anchor="t" rtlCol="false" tIns="0" lIns="0" bIns="0" rIns="0">
            <a:spAutoFit/>
          </a:bodyPr>
          <a:lstStyle/>
          <a:p>
            <a:pPr algn="l">
              <a:lnSpc>
                <a:spcPts val="2808"/>
              </a:lnSpc>
              <a:spcBef>
                <a:spcPct val="0"/>
              </a:spcBef>
            </a:pPr>
            <a:r>
              <a:rPr lang="en-US" sz="2006">
                <a:solidFill>
                  <a:srgbClr val="FFFFFF"/>
                </a:solidFill>
                <a:latin typeface="Canva Sans"/>
                <a:ea typeface="Canva Sans"/>
                <a:cs typeface="Canva Sans"/>
                <a:sym typeface="Canva Sans"/>
              </a:rPr>
              <a:t>Our research demonstrates that while mobile security frameworks like M</a:t>
            </a:r>
            <a:r>
              <a:rPr lang="en-US" sz="2006">
                <a:solidFill>
                  <a:srgbClr val="FFFFFF"/>
                </a:solidFill>
                <a:latin typeface="Canva Sans"/>
                <a:ea typeface="Canva Sans"/>
                <a:cs typeface="Canva Sans"/>
                <a:sym typeface="Canva Sans"/>
              </a:rPr>
              <a:t>obSF provide powerful, automated end-to-end testing for both Android and iOS , their true value lies in revealing systemic coding failures that manual reviews might miss. </a:t>
            </a:r>
          </a:p>
          <a:p>
            <a:pPr algn="l">
              <a:lnSpc>
                <a:spcPts val="2808"/>
              </a:lnSpc>
              <a:spcBef>
                <a:spcPct val="0"/>
              </a:spcBef>
            </a:pPr>
          </a:p>
          <a:p>
            <a:pPr algn="l">
              <a:lnSpc>
                <a:spcPts val="2808"/>
              </a:lnSpc>
              <a:spcBef>
                <a:spcPct val="0"/>
              </a:spcBef>
            </a:pPr>
            <a:r>
              <a:rPr lang="en-US" sz="2006">
                <a:solidFill>
                  <a:srgbClr val="FFFFFF"/>
                </a:solidFill>
                <a:latin typeface="Canva Sans"/>
                <a:ea typeface="Canva Sans"/>
                <a:cs typeface="Canva Sans"/>
                <a:sym typeface="Canva Sans"/>
              </a:rPr>
              <a:t>Key Findings &amp; Future Outlook</a:t>
            </a:r>
          </a:p>
          <a:p>
            <a:pPr algn="l" marL="433161" indent="-216581" lvl="1">
              <a:lnSpc>
                <a:spcPts val="2808"/>
              </a:lnSpc>
              <a:buFont typeface="Arial"/>
              <a:buChar char="•"/>
            </a:pPr>
            <a:r>
              <a:rPr lang="en-US" sz="2006">
                <a:solidFill>
                  <a:srgbClr val="FFFFFF"/>
                </a:solidFill>
                <a:latin typeface="Canva Sans"/>
                <a:ea typeface="Canva Sans"/>
                <a:cs typeface="Canva Sans"/>
                <a:sym typeface="Canva Sans"/>
              </a:rPr>
              <a:t>Systemic Vulnerabilities</a:t>
            </a:r>
          </a:p>
          <a:p>
            <a:pPr algn="l" marL="433161" indent="-216581" lvl="1">
              <a:lnSpc>
                <a:spcPts val="2808"/>
              </a:lnSpc>
              <a:buFont typeface="Arial"/>
              <a:buChar char="•"/>
            </a:pPr>
            <a:r>
              <a:rPr lang="en-US" sz="2006">
                <a:solidFill>
                  <a:srgbClr val="FFFFFF"/>
                </a:solidFill>
                <a:latin typeface="Canva Sans"/>
                <a:ea typeface="Canva Sans"/>
                <a:cs typeface="Canva Sans"/>
                <a:sym typeface="Canva Sans"/>
              </a:rPr>
              <a:t>The Power of Hybrid Analysis</a:t>
            </a:r>
          </a:p>
          <a:p>
            <a:pPr algn="l" marL="433161" indent="-216581" lvl="1">
              <a:lnSpc>
                <a:spcPts val="2808"/>
              </a:lnSpc>
              <a:buFont typeface="Arial"/>
              <a:buChar char="•"/>
            </a:pPr>
            <a:r>
              <a:rPr lang="en-US" sz="2006">
                <a:solidFill>
                  <a:srgbClr val="FFFFFF"/>
                </a:solidFill>
                <a:latin typeface="Canva Sans"/>
                <a:ea typeface="Canva Sans"/>
                <a:cs typeface="Canva Sans"/>
                <a:sym typeface="Canva Sans"/>
              </a:rPr>
              <a:t>A Shift to DevSecOps</a:t>
            </a:r>
          </a:p>
          <a:p>
            <a:pPr algn="l">
              <a:lnSpc>
                <a:spcPts val="2808"/>
              </a:lnSpc>
            </a:pPr>
          </a:p>
          <a:p>
            <a:pPr algn="l">
              <a:lnSpc>
                <a:spcPts val="2808"/>
              </a:lnSpc>
            </a:pPr>
            <a:r>
              <a:rPr lang="en-US" sz="2006">
                <a:solidFill>
                  <a:srgbClr val="FFFFFF"/>
                </a:solidFill>
                <a:latin typeface="Canva Sans"/>
                <a:ea typeface="Canva Sans"/>
                <a:cs typeface="Canva Sans"/>
                <a:sym typeface="Canva Sans"/>
              </a:rPr>
              <a:t>Ultimately, the objective is to move beyond isolated defenses by proving that a unified, cross-layer verification approach significantly reduces the success rate of adversarial breaches.</a:t>
            </a:r>
          </a:p>
          <a:p>
            <a:pPr algn="ctr">
              <a:lnSpc>
                <a:spcPts val="2808"/>
              </a:lnSpc>
              <a:spcBef>
                <a:spcPct val="0"/>
              </a:spcBef>
            </a:pPr>
          </a:p>
        </p:txBody>
      </p:sp>
      <p:grpSp>
        <p:nvGrpSpPr>
          <p:cNvPr name="Group 21" id="21"/>
          <p:cNvGrpSpPr/>
          <p:nvPr/>
        </p:nvGrpSpPr>
        <p:grpSpPr>
          <a:xfrm rot="5400000">
            <a:off x="13716143" y="-2127752"/>
            <a:ext cx="1392948" cy="5648453"/>
            <a:chOff x="0" y="0"/>
            <a:chExt cx="366867" cy="1487658"/>
          </a:xfrm>
        </p:grpSpPr>
        <p:sp>
          <p:nvSpPr>
            <p:cNvPr name="Freeform 22" id="22"/>
            <p:cNvSpPr/>
            <p:nvPr/>
          </p:nvSpPr>
          <p:spPr>
            <a:xfrm flipH="false" flipV="false" rot="0">
              <a:off x="0" y="0"/>
              <a:ext cx="366867" cy="1487658"/>
            </a:xfrm>
            <a:custGeom>
              <a:avLst/>
              <a:gdLst/>
              <a:ahLst/>
              <a:cxnLst/>
              <a:rect r="r" b="b" t="t" l="l"/>
              <a:pathLst>
                <a:path h="1487658" w="366867">
                  <a:moveTo>
                    <a:pt x="0" y="0"/>
                  </a:moveTo>
                  <a:lnTo>
                    <a:pt x="366867" y="0"/>
                  </a:lnTo>
                  <a:lnTo>
                    <a:pt x="366867" y="1487658"/>
                  </a:lnTo>
                  <a:lnTo>
                    <a:pt x="0" y="1487658"/>
                  </a:lnTo>
                  <a:close/>
                </a:path>
              </a:pathLst>
            </a:custGeom>
            <a:gradFill rotWithShape="true">
              <a:gsLst>
                <a:gs pos="0">
                  <a:srgbClr val="40DDDF">
                    <a:alpha val="100000"/>
                  </a:srgbClr>
                </a:gs>
                <a:gs pos="100000">
                  <a:srgbClr val="000000">
                    <a:alpha val="0"/>
                  </a:srgbClr>
                </a:gs>
              </a:gsLst>
              <a:lin ang="0"/>
            </a:gradFill>
          </p:spPr>
        </p:sp>
        <p:sp>
          <p:nvSpPr>
            <p:cNvPr name="TextBox 23" id="23"/>
            <p:cNvSpPr txBox="true"/>
            <p:nvPr/>
          </p:nvSpPr>
          <p:spPr>
            <a:xfrm>
              <a:off x="0" y="-38100"/>
              <a:ext cx="366867" cy="1525758"/>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9407671" cy="10287000"/>
            <a:chOff x="0" y="0"/>
            <a:chExt cx="1457494" cy="1593725"/>
          </a:xfrm>
        </p:grpSpPr>
        <p:sp>
          <p:nvSpPr>
            <p:cNvPr name="Freeform 3" id="3"/>
            <p:cNvSpPr/>
            <p:nvPr/>
          </p:nvSpPr>
          <p:spPr>
            <a:xfrm flipH="false" flipV="false" rot="0">
              <a:off x="0" y="0"/>
              <a:ext cx="1457494" cy="1593725"/>
            </a:xfrm>
            <a:custGeom>
              <a:avLst/>
              <a:gdLst/>
              <a:ahLst/>
              <a:cxnLst/>
              <a:rect r="r" b="b" t="t" l="l"/>
              <a:pathLst>
                <a:path h="1593725" w="1457494">
                  <a:moveTo>
                    <a:pt x="0" y="0"/>
                  </a:moveTo>
                  <a:lnTo>
                    <a:pt x="1457494" y="0"/>
                  </a:lnTo>
                  <a:lnTo>
                    <a:pt x="1457494" y="1593725"/>
                  </a:lnTo>
                  <a:lnTo>
                    <a:pt x="0" y="1593725"/>
                  </a:lnTo>
                  <a:close/>
                </a:path>
              </a:pathLst>
            </a:custGeom>
            <a:blipFill>
              <a:blip r:embed="rId2"/>
              <a:stretch>
                <a:fillRect l="-4673" t="0" r="-4673" b="0"/>
              </a:stretch>
            </a:blipFill>
          </p:spPr>
        </p:sp>
      </p:grpSp>
      <p:grpSp>
        <p:nvGrpSpPr>
          <p:cNvPr name="Group 4" id="4"/>
          <p:cNvGrpSpPr/>
          <p:nvPr/>
        </p:nvGrpSpPr>
        <p:grpSpPr>
          <a:xfrm rot="0">
            <a:off x="-1275248" y="0"/>
            <a:ext cx="3686175" cy="10287000"/>
            <a:chOff x="0" y="0"/>
            <a:chExt cx="970844" cy="2709333"/>
          </a:xfrm>
        </p:grpSpPr>
        <p:sp>
          <p:nvSpPr>
            <p:cNvPr name="Freeform 5" id="5"/>
            <p:cNvSpPr/>
            <p:nvPr/>
          </p:nvSpPr>
          <p:spPr>
            <a:xfrm flipH="false" flipV="false" rot="0">
              <a:off x="0" y="0"/>
              <a:ext cx="970844" cy="2709333"/>
            </a:xfrm>
            <a:custGeom>
              <a:avLst/>
              <a:gdLst/>
              <a:ahLst/>
              <a:cxnLst/>
              <a:rect r="r" b="b" t="t" l="l"/>
              <a:pathLst>
                <a:path h="2709333" w="970844">
                  <a:moveTo>
                    <a:pt x="0" y="0"/>
                  </a:moveTo>
                  <a:lnTo>
                    <a:pt x="970844" y="0"/>
                  </a:lnTo>
                  <a:lnTo>
                    <a:pt x="970844" y="2709333"/>
                  </a:lnTo>
                  <a:lnTo>
                    <a:pt x="0" y="2709333"/>
                  </a:lnTo>
                  <a:close/>
                </a:path>
              </a:pathLst>
            </a:custGeom>
            <a:gradFill rotWithShape="true">
              <a:gsLst>
                <a:gs pos="0">
                  <a:srgbClr val="000000">
                    <a:alpha val="100000"/>
                  </a:srgbClr>
                </a:gs>
                <a:gs pos="100000">
                  <a:srgbClr val="000000">
                    <a:alpha val="0"/>
                  </a:srgbClr>
                </a:gs>
              </a:gsLst>
              <a:lin ang="0"/>
            </a:gradFill>
          </p:spPr>
        </p:sp>
        <p:sp>
          <p:nvSpPr>
            <p:cNvPr name="TextBox 6" id="6"/>
            <p:cNvSpPr txBox="true"/>
            <p:nvPr/>
          </p:nvSpPr>
          <p:spPr>
            <a:xfrm>
              <a:off x="0" y="-38100"/>
              <a:ext cx="970844"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7" id="7"/>
          <p:cNvSpPr/>
          <p:nvPr/>
        </p:nvSpPr>
        <p:spPr>
          <a:xfrm flipH="false" flipV="false" rot="0">
            <a:off x="16618143" y="5802077"/>
            <a:ext cx="641157" cy="641157"/>
          </a:xfrm>
          <a:custGeom>
            <a:avLst/>
            <a:gdLst/>
            <a:ahLst/>
            <a:cxnLst/>
            <a:rect r="r" b="b" t="t" l="l"/>
            <a:pathLst>
              <a:path h="641157" w="641157">
                <a:moveTo>
                  <a:pt x="0" y="0"/>
                </a:moveTo>
                <a:lnTo>
                  <a:pt x="641157" y="0"/>
                </a:lnTo>
                <a:lnTo>
                  <a:pt x="641157" y="641157"/>
                </a:lnTo>
                <a:lnTo>
                  <a:pt x="0" y="6411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10800000">
            <a:off x="17506950" y="0"/>
            <a:ext cx="781050" cy="10287000"/>
            <a:chOff x="0" y="0"/>
            <a:chExt cx="205709" cy="2709333"/>
          </a:xfrm>
        </p:grpSpPr>
        <p:sp>
          <p:nvSpPr>
            <p:cNvPr name="Freeform 9" id="9"/>
            <p:cNvSpPr/>
            <p:nvPr/>
          </p:nvSpPr>
          <p:spPr>
            <a:xfrm flipH="false" flipV="false" rot="0">
              <a:off x="0" y="0"/>
              <a:ext cx="205709" cy="2709333"/>
            </a:xfrm>
            <a:custGeom>
              <a:avLst/>
              <a:gdLst/>
              <a:ahLst/>
              <a:cxnLst/>
              <a:rect r="r" b="b" t="t" l="l"/>
              <a:pathLst>
                <a:path h="2709333" w="205709">
                  <a:moveTo>
                    <a:pt x="0" y="0"/>
                  </a:moveTo>
                  <a:lnTo>
                    <a:pt x="205709" y="0"/>
                  </a:lnTo>
                  <a:lnTo>
                    <a:pt x="205709" y="2709333"/>
                  </a:lnTo>
                  <a:lnTo>
                    <a:pt x="0" y="2709333"/>
                  </a:lnTo>
                  <a:close/>
                </a:path>
              </a:pathLst>
            </a:custGeom>
            <a:gradFill rotWithShape="true">
              <a:gsLst>
                <a:gs pos="0">
                  <a:srgbClr val="40DDDF">
                    <a:alpha val="100000"/>
                  </a:srgbClr>
                </a:gs>
                <a:gs pos="100000">
                  <a:srgbClr val="000000">
                    <a:alpha val="0"/>
                  </a:srgbClr>
                </a:gs>
              </a:gsLst>
              <a:lin ang="0"/>
            </a:gradFill>
          </p:spPr>
        </p:sp>
        <p:sp>
          <p:nvSpPr>
            <p:cNvPr name="TextBox 10" id="10"/>
            <p:cNvSpPr txBox="true"/>
            <p:nvPr/>
          </p:nvSpPr>
          <p:spPr>
            <a:xfrm>
              <a:off x="0" y="-38100"/>
              <a:ext cx="205709"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4779698" y="1052123"/>
            <a:ext cx="376666" cy="446131"/>
          </a:xfrm>
          <a:custGeom>
            <a:avLst/>
            <a:gdLst/>
            <a:ahLst/>
            <a:cxnLst/>
            <a:rect r="r" b="b" t="t" l="l"/>
            <a:pathLst>
              <a:path h="446131" w="376666">
                <a:moveTo>
                  <a:pt x="0" y="0"/>
                </a:moveTo>
                <a:lnTo>
                  <a:pt x="376666" y="0"/>
                </a:lnTo>
                <a:lnTo>
                  <a:pt x="376666" y="446131"/>
                </a:lnTo>
                <a:lnTo>
                  <a:pt x="0" y="44613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2" id="12"/>
          <p:cNvSpPr txBox="true"/>
          <p:nvPr/>
        </p:nvSpPr>
        <p:spPr>
          <a:xfrm rot="0">
            <a:off x="11303024" y="4641816"/>
            <a:ext cx="5635698" cy="2511022"/>
          </a:xfrm>
          <a:prstGeom prst="rect">
            <a:avLst/>
          </a:prstGeom>
        </p:spPr>
        <p:txBody>
          <a:bodyPr anchor="t" rtlCol="false" tIns="0" lIns="0" bIns="0" rIns="0">
            <a:spAutoFit/>
          </a:bodyPr>
          <a:lstStyle/>
          <a:p>
            <a:pPr algn="l">
              <a:lnSpc>
                <a:spcPts val="9726"/>
              </a:lnSpc>
            </a:pPr>
            <a:r>
              <a:rPr lang="en-US" sz="9726">
                <a:solidFill>
                  <a:srgbClr val="40DDDF"/>
                </a:solidFill>
                <a:latin typeface="Montserrat"/>
                <a:ea typeface="Montserrat"/>
                <a:cs typeface="Montserrat"/>
                <a:sym typeface="Montserrat"/>
              </a:rPr>
              <a:t>THANK YOU</a:t>
            </a:r>
          </a:p>
        </p:txBody>
      </p:sp>
      <p:sp>
        <p:nvSpPr>
          <p:cNvPr name="TextBox 13" id="13"/>
          <p:cNvSpPr txBox="true"/>
          <p:nvPr/>
        </p:nvSpPr>
        <p:spPr>
          <a:xfrm rot="0">
            <a:off x="15148490" y="1128821"/>
            <a:ext cx="2358460" cy="264160"/>
          </a:xfrm>
          <a:prstGeom prst="rect">
            <a:avLst/>
          </a:prstGeom>
        </p:spPr>
        <p:txBody>
          <a:bodyPr anchor="t" rtlCol="false" tIns="0" lIns="0" bIns="0" rIns="0">
            <a:spAutoFit/>
          </a:bodyPr>
          <a:lstStyle/>
          <a:p>
            <a:pPr algn="r">
              <a:lnSpc>
                <a:spcPts val="2239"/>
              </a:lnSpc>
              <a:spcBef>
                <a:spcPct val="0"/>
              </a:spcBef>
            </a:pPr>
            <a:r>
              <a:rPr lang="en-US" b="true" sz="1599">
                <a:solidFill>
                  <a:srgbClr val="FFFFFF"/>
                </a:solidFill>
                <a:latin typeface="Open Sans Bold"/>
                <a:ea typeface="Open Sans Bold"/>
                <a:cs typeface="Open Sans Bold"/>
                <a:sym typeface="Open Sans Bold"/>
              </a:rPr>
              <a:t>GHOST_DEVELOPERS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DAHEFjYq6aI</dc:identifier>
  <dcterms:modified xsi:type="dcterms:W3CDTF">2011-08-01T06:04:30Z</dcterms:modified>
  <cp:revision>1</cp:revision>
  <dc:title>Your paragraph text</dc:title>
</cp:coreProperties>
</file>